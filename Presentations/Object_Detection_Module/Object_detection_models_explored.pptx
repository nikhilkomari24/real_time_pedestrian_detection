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81" r:id="rId5"/>
    <p:sldId id="282" r:id="rId6"/>
    <p:sldId id="279" r:id="rId7"/>
    <p:sldId id="265" r:id="rId8"/>
    <p:sldId id="267" r:id="rId9"/>
    <p:sldId id="268" r:id="rId10"/>
    <p:sldId id="269" r:id="rId11"/>
    <p:sldId id="277" r:id="rId12"/>
    <p:sldId id="272" r:id="rId13"/>
    <p:sldId id="270" r:id="rId14"/>
    <p:sldId id="278" r:id="rId15"/>
    <p:sldId id="266" r:id="rId16"/>
    <p:sldId id="286" r:id="rId17"/>
    <p:sldId id="283" r:id="rId18"/>
    <p:sldId id="275" r:id="rId19"/>
    <p:sldId id="284" r:id="rId20"/>
    <p:sldId id="280" r:id="rId21"/>
    <p:sldId id="285"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06E0FA3-AAE8-42E6-8D6C-D1B0D75B69B3}">
          <p14:sldIdLst>
            <p14:sldId id="281"/>
            <p14:sldId id="282"/>
            <p14:sldId id="279"/>
            <p14:sldId id="265"/>
            <p14:sldId id="267"/>
            <p14:sldId id="268"/>
            <p14:sldId id="269"/>
            <p14:sldId id="277"/>
            <p14:sldId id="272"/>
            <p14:sldId id="270"/>
            <p14:sldId id="278"/>
            <p14:sldId id="266"/>
            <p14:sldId id="286"/>
            <p14:sldId id="283"/>
            <p14:sldId id="275"/>
            <p14:sldId id="284"/>
            <p14:sldId id="280"/>
            <p14:sldId id="285"/>
          </p14:sldIdLst>
        </p14:section>
        <p14:section name="Untitled Section" id="{98AC1F98-A683-4178-BF3C-ECB9B31FB6FD}">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3" d="100"/>
          <a:sy n="63" d="100"/>
        </p:scale>
        <p:origin x="84" y="132"/>
      </p:cViewPr>
      <p:guideLst/>
    </p:cSldViewPr>
  </p:slideViewPr>
  <p:notesTextViewPr>
    <p:cViewPr>
      <p:scale>
        <a:sx n="1" d="1"/>
        <a:sy n="1" d="1"/>
      </p:scale>
      <p:origin x="0" y="0"/>
    </p:cViewPr>
  </p:notesTextViewPr>
  <p:sorterViewPr>
    <p:cViewPr>
      <p:scale>
        <a:sx n="100" d="100"/>
        <a:sy n="100" d="100"/>
      </p:scale>
      <p:origin x="0" y="-428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s>
</file>

<file path=ppt/diagrams/colors1.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9F52CBC-69AB-4369-9A40-EB5BFFF656CE}" type="doc">
      <dgm:prSet loTypeId="urn:microsoft.com/office/officeart/2005/8/layout/list1" loCatId="list" qsTypeId="urn:microsoft.com/office/officeart/2005/8/quickstyle/simple1" qsCatId="simple" csTypeId="urn:microsoft.com/office/officeart/2005/8/colors/accent5_2" csCatId="accent5"/>
      <dgm:spPr/>
      <dgm:t>
        <a:bodyPr/>
        <a:lstStyle/>
        <a:p>
          <a:endParaRPr lang="en-US"/>
        </a:p>
      </dgm:t>
    </dgm:pt>
    <dgm:pt modelId="{570DC703-A710-44D0-9EA3-892258CF0D8C}">
      <dgm:prSet/>
      <dgm:spPr/>
      <dgm:t>
        <a:bodyPr/>
        <a:lstStyle/>
        <a:p>
          <a:r>
            <a:rPr lang="en-IN"/>
            <a:t>Classification vs Object detection</a:t>
          </a:r>
          <a:endParaRPr lang="en-US"/>
        </a:p>
      </dgm:t>
    </dgm:pt>
    <dgm:pt modelId="{6D3985E2-2A65-46D9-B77D-7FB1A17A6326}" type="parTrans" cxnId="{5B9CD7B2-1CC3-4E01-B5AE-34A295D3A47A}">
      <dgm:prSet/>
      <dgm:spPr/>
      <dgm:t>
        <a:bodyPr/>
        <a:lstStyle/>
        <a:p>
          <a:endParaRPr lang="en-US"/>
        </a:p>
      </dgm:t>
    </dgm:pt>
    <dgm:pt modelId="{3531166C-FC36-436C-967E-4763C893D491}" type="sibTrans" cxnId="{5B9CD7B2-1CC3-4E01-B5AE-34A295D3A47A}">
      <dgm:prSet/>
      <dgm:spPr/>
      <dgm:t>
        <a:bodyPr/>
        <a:lstStyle/>
        <a:p>
          <a:endParaRPr lang="en-US"/>
        </a:p>
      </dgm:t>
    </dgm:pt>
    <dgm:pt modelId="{67E857A1-7C59-4867-A7A7-F0A8A84983F1}">
      <dgm:prSet/>
      <dgm:spPr/>
      <dgm:t>
        <a:bodyPr/>
        <a:lstStyle/>
        <a:p>
          <a:r>
            <a:rPr lang="en-IN"/>
            <a:t>Models Explored</a:t>
          </a:r>
          <a:endParaRPr lang="en-US"/>
        </a:p>
      </dgm:t>
    </dgm:pt>
    <dgm:pt modelId="{E5E6BA90-BCC4-4632-8FEA-13C4B08A9E42}" type="parTrans" cxnId="{331F5C1D-9A9A-444A-B068-08DCFE415D34}">
      <dgm:prSet/>
      <dgm:spPr/>
      <dgm:t>
        <a:bodyPr/>
        <a:lstStyle/>
        <a:p>
          <a:endParaRPr lang="en-US"/>
        </a:p>
      </dgm:t>
    </dgm:pt>
    <dgm:pt modelId="{E734F626-398A-4C77-A126-FEF0DEC43FE5}" type="sibTrans" cxnId="{331F5C1D-9A9A-444A-B068-08DCFE415D34}">
      <dgm:prSet/>
      <dgm:spPr/>
      <dgm:t>
        <a:bodyPr/>
        <a:lstStyle/>
        <a:p>
          <a:endParaRPr lang="en-US"/>
        </a:p>
      </dgm:t>
    </dgm:pt>
    <dgm:pt modelId="{87665BFF-5016-4966-96CB-914759A55887}">
      <dgm:prSet/>
      <dgm:spPr/>
      <dgm:t>
        <a:bodyPr/>
        <a:lstStyle/>
        <a:p>
          <a:r>
            <a:rPr lang="en-IN"/>
            <a:t>Experimental Setup</a:t>
          </a:r>
          <a:endParaRPr lang="en-US"/>
        </a:p>
      </dgm:t>
    </dgm:pt>
    <dgm:pt modelId="{3193F448-D65B-47D4-9E5C-34E553449913}" type="parTrans" cxnId="{470F81BF-96A7-470F-9027-4ACE18DA65D9}">
      <dgm:prSet/>
      <dgm:spPr/>
      <dgm:t>
        <a:bodyPr/>
        <a:lstStyle/>
        <a:p>
          <a:endParaRPr lang="en-US"/>
        </a:p>
      </dgm:t>
    </dgm:pt>
    <dgm:pt modelId="{DC9B5873-558E-456A-A6AA-490316CC03FC}" type="sibTrans" cxnId="{470F81BF-96A7-470F-9027-4ACE18DA65D9}">
      <dgm:prSet/>
      <dgm:spPr/>
      <dgm:t>
        <a:bodyPr/>
        <a:lstStyle/>
        <a:p>
          <a:endParaRPr lang="en-US"/>
        </a:p>
      </dgm:t>
    </dgm:pt>
    <dgm:pt modelId="{296954A5-186B-45A6-AC29-D929AFD1F66E}">
      <dgm:prSet/>
      <dgm:spPr/>
      <dgm:t>
        <a:bodyPr/>
        <a:lstStyle/>
        <a:p>
          <a:r>
            <a:rPr lang="en-IN"/>
            <a:t>Results</a:t>
          </a:r>
          <a:endParaRPr lang="en-US"/>
        </a:p>
      </dgm:t>
    </dgm:pt>
    <dgm:pt modelId="{50804AC1-A13F-4D6F-919E-181963A3B130}" type="parTrans" cxnId="{E03663F9-E122-49BE-B908-A98814933303}">
      <dgm:prSet/>
      <dgm:spPr/>
      <dgm:t>
        <a:bodyPr/>
        <a:lstStyle/>
        <a:p>
          <a:endParaRPr lang="en-US"/>
        </a:p>
      </dgm:t>
    </dgm:pt>
    <dgm:pt modelId="{35C83709-8DD1-4CCB-8F39-0043EA97A4C7}" type="sibTrans" cxnId="{E03663F9-E122-49BE-B908-A98814933303}">
      <dgm:prSet/>
      <dgm:spPr/>
      <dgm:t>
        <a:bodyPr/>
        <a:lstStyle/>
        <a:p>
          <a:endParaRPr lang="en-US"/>
        </a:p>
      </dgm:t>
    </dgm:pt>
    <dgm:pt modelId="{45E34F96-E54E-4205-9054-C3105C7768EF}">
      <dgm:prSet/>
      <dgm:spPr/>
      <dgm:t>
        <a:bodyPr/>
        <a:lstStyle/>
        <a:p>
          <a:r>
            <a:rPr lang="en-IN"/>
            <a:t>Conclusions</a:t>
          </a:r>
          <a:endParaRPr lang="en-US"/>
        </a:p>
      </dgm:t>
    </dgm:pt>
    <dgm:pt modelId="{015256D3-6054-451E-88DC-B6B4EACD19F5}" type="parTrans" cxnId="{7A854BA2-98D9-4800-97A1-2317BCC5F210}">
      <dgm:prSet/>
      <dgm:spPr/>
      <dgm:t>
        <a:bodyPr/>
        <a:lstStyle/>
        <a:p>
          <a:endParaRPr lang="en-US"/>
        </a:p>
      </dgm:t>
    </dgm:pt>
    <dgm:pt modelId="{29F7FECF-FF41-4161-865A-7B671BCA0964}" type="sibTrans" cxnId="{7A854BA2-98D9-4800-97A1-2317BCC5F210}">
      <dgm:prSet/>
      <dgm:spPr/>
      <dgm:t>
        <a:bodyPr/>
        <a:lstStyle/>
        <a:p>
          <a:endParaRPr lang="en-US"/>
        </a:p>
      </dgm:t>
    </dgm:pt>
    <dgm:pt modelId="{D4060373-D5A4-4E28-B82F-BB5949A58480}">
      <dgm:prSet/>
      <dgm:spPr/>
      <dgm:t>
        <a:bodyPr/>
        <a:lstStyle/>
        <a:p>
          <a:r>
            <a:rPr lang="en-IN"/>
            <a:t>Queries</a:t>
          </a:r>
          <a:endParaRPr lang="en-US"/>
        </a:p>
      </dgm:t>
    </dgm:pt>
    <dgm:pt modelId="{52CC8063-0BF8-4BE1-BFD7-FB06051999D5}" type="parTrans" cxnId="{265B8BF0-EF6D-4C74-8052-8B1D0DBD8273}">
      <dgm:prSet/>
      <dgm:spPr/>
      <dgm:t>
        <a:bodyPr/>
        <a:lstStyle/>
        <a:p>
          <a:endParaRPr lang="en-US"/>
        </a:p>
      </dgm:t>
    </dgm:pt>
    <dgm:pt modelId="{11D6DCAC-C616-4084-BD43-14D0C6067C6D}" type="sibTrans" cxnId="{265B8BF0-EF6D-4C74-8052-8B1D0DBD8273}">
      <dgm:prSet/>
      <dgm:spPr/>
      <dgm:t>
        <a:bodyPr/>
        <a:lstStyle/>
        <a:p>
          <a:endParaRPr lang="en-US"/>
        </a:p>
      </dgm:t>
    </dgm:pt>
    <dgm:pt modelId="{A0D0CFD1-2CC7-4263-9429-727ACA323166}" type="pres">
      <dgm:prSet presAssocID="{D9F52CBC-69AB-4369-9A40-EB5BFFF656CE}" presName="linear" presStyleCnt="0">
        <dgm:presLayoutVars>
          <dgm:dir/>
          <dgm:animLvl val="lvl"/>
          <dgm:resizeHandles val="exact"/>
        </dgm:presLayoutVars>
      </dgm:prSet>
      <dgm:spPr/>
    </dgm:pt>
    <dgm:pt modelId="{F27F03F7-CA6F-4183-BBE7-362B2AAD60DB}" type="pres">
      <dgm:prSet presAssocID="{570DC703-A710-44D0-9EA3-892258CF0D8C}" presName="parentLin" presStyleCnt="0"/>
      <dgm:spPr/>
    </dgm:pt>
    <dgm:pt modelId="{0ED393EF-8DB3-4B28-91F5-2FCF2D8CF83C}" type="pres">
      <dgm:prSet presAssocID="{570DC703-A710-44D0-9EA3-892258CF0D8C}" presName="parentLeftMargin" presStyleLbl="node1" presStyleIdx="0" presStyleCnt="6"/>
      <dgm:spPr/>
    </dgm:pt>
    <dgm:pt modelId="{09843EBF-8831-47F7-9319-6F876A1A258F}" type="pres">
      <dgm:prSet presAssocID="{570DC703-A710-44D0-9EA3-892258CF0D8C}" presName="parentText" presStyleLbl="node1" presStyleIdx="0" presStyleCnt="6">
        <dgm:presLayoutVars>
          <dgm:chMax val="0"/>
          <dgm:bulletEnabled val="1"/>
        </dgm:presLayoutVars>
      </dgm:prSet>
      <dgm:spPr/>
    </dgm:pt>
    <dgm:pt modelId="{265E37F4-E852-42C9-8746-2C249F5B6688}" type="pres">
      <dgm:prSet presAssocID="{570DC703-A710-44D0-9EA3-892258CF0D8C}" presName="negativeSpace" presStyleCnt="0"/>
      <dgm:spPr/>
    </dgm:pt>
    <dgm:pt modelId="{5EB8E373-905A-401C-BEB2-E8C220DC7D99}" type="pres">
      <dgm:prSet presAssocID="{570DC703-A710-44D0-9EA3-892258CF0D8C}" presName="childText" presStyleLbl="conFgAcc1" presStyleIdx="0" presStyleCnt="6">
        <dgm:presLayoutVars>
          <dgm:bulletEnabled val="1"/>
        </dgm:presLayoutVars>
      </dgm:prSet>
      <dgm:spPr/>
    </dgm:pt>
    <dgm:pt modelId="{22451322-AD9E-443B-B609-1BDA0E004BC1}" type="pres">
      <dgm:prSet presAssocID="{3531166C-FC36-436C-967E-4763C893D491}" presName="spaceBetweenRectangles" presStyleCnt="0"/>
      <dgm:spPr/>
    </dgm:pt>
    <dgm:pt modelId="{332562C0-FC0E-4350-9047-2C2B6FD723FD}" type="pres">
      <dgm:prSet presAssocID="{67E857A1-7C59-4867-A7A7-F0A8A84983F1}" presName="parentLin" presStyleCnt="0"/>
      <dgm:spPr/>
    </dgm:pt>
    <dgm:pt modelId="{475173EE-7931-40F2-9C90-658FF32F2721}" type="pres">
      <dgm:prSet presAssocID="{67E857A1-7C59-4867-A7A7-F0A8A84983F1}" presName="parentLeftMargin" presStyleLbl="node1" presStyleIdx="0" presStyleCnt="6"/>
      <dgm:spPr/>
    </dgm:pt>
    <dgm:pt modelId="{835280D8-74A2-43A0-A739-918BEA865083}" type="pres">
      <dgm:prSet presAssocID="{67E857A1-7C59-4867-A7A7-F0A8A84983F1}" presName="parentText" presStyleLbl="node1" presStyleIdx="1" presStyleCnt="6">
        <dgm:presLayoutVars>
          <dgm:chMax val="0"/>
          <dgm:bulletEnabled val="1"/>
        </dgm:presLayoutVars>
      </dgm:prSet>
      <dgm:spPr/>
    </dgm:pt>
    <dgm:pt modelId="{0BC3C9EC-D2AB-4EA8-BC03-19B6DF46937B}" type="pres">
      <dgm:prSet presAssocID="{67E857A1-7C59-4867-A7A7-F0A8A84983F1}" presName="negativeSpace" presStyleCnt="0"/>
      <dgm:spPr/>
    </dgm:pt>
    <dgm:pt modelId="{659BBB04-AE65-4819-8BFF-CB22A7F98373}" type="pres">
      <dgm:prSet presAssocID="{67E857A1-7C59-4867-A7A7-F0A8A84983F1}" presName="childText" presStyleLbl="conFgAcc1" presStyleIdx="1" presStyleCnt="6">
        <dgm:presLayoutVars>
          <dgm:bulletEnabled val="1"/>
        </dgm:presLayoutVars>
      </dgm:prSet>
      <dgm:spPr/>
    </dgm:pt>
    <dgm:pt modelId="{BDD5E194-7E1F-4841-9884-371747EE2D73}" type="pres">
      <dgm:prSet presAssocID="{E734F626-398A-4C77-A126-FEF0DEC43FE5}" presName="spaceBetweenRectangles" presStyleCnt="0"/>
      <dgm:spPr/>
    </dgm:pt>
    <dgm:pt modelId="{D4FD0665-340A-4E94-B129-2EBFEB5A3D85}" type="pres">
      <dgm:prSet presAssocID="{87665BFF-5016-4966-96CB-914759A55887}" presName="parentLin" presStyleCnt="0"/>
      <dgm:spPr/>
    </dgm:pt>
    <dgm:pt modelId="{E87A5484-40EE-4C35-96DC-E2E2731B4EC3}" type="pres">
      <dgm:prSet presAssocID="{87665BFF-5016-4966-96CB-914759A55887}" presName="parentLeftMargin" presStyleLbl="node1" presStyleIdx="1" presStyleCnt="6"/>
      <dgm:spPr/>
    </dgm:pt>
    <dgm:pt modelId="{28FA6BEC-EC33-44A2-933F-6A1D6518BAB6}" type="pres">
      <dgm:prSet presAssocID="{87665BFF-5016-4966-96CB-914759A55887}" presName="parentText" presStyleLbl="node1" presStyleIdx="2" presStyleCnt="6">
        <dgm:presLayoutVars>
          <dgm:chMax val="0"/>
          <dgm:bulletEnabled val="1"/>
        </dgm:presLayoutVars>
      </dgm:prSet>
      <dgm:spPr/>
    </dgm:pt>
    <dgm:pt modelId="{6C1E4FD9-E024-4717-9EE0-DD897E936749}" type="pres">
      <dgm:prSet presAssocID="{87665BFF-5016-4966-96CB-914759A55887}" presName="negativeSpace" presStyleCnt="0"/>
      <dgm:spPr/>
    </dgm:pt>
    <dgm:pt modelId="{917B1B18-5E43-4AC9-A5E2-93726C040CA5}" type="pres">
      <dgm:prSet presAssocID="{87665BFF-5016-4966-96CB-914759A55887}" presName="childText" presStyleLbl="conFgAcc1" presStyleIdx="2" presStyleCnt="6">
        <dgm:presLayoutVars>
          <dgm:bulletEnabled val="1"/>
        </dgm:presLayoutVars>
      </dgm:prSet>
      <dgm:spPr/>
    </dgm:pt>
    <dgm:pt modelId="{60A2F71D-6BDF-4242-B374-545A7C9B72A3}" type="pres">
      <dgm:prSet presAssocID="{DC9B5873-558E-456A-A6AA-490316CC03FC}" presName="spaceBetweenRectangles" presStyleCnt="0"/>
      <dgm:spPr/>
    </dgm:pt>
    <dgm:pt modelId="{D644ACDC-2728-4FF3-B0E8-30F670439797}" type="pres">
      <dgm:prSet presAssocID="{296954A5-186B-45A6-AC29-D929AFD1F66E}" presName="parentLin" presStyleCnt="0"/>
      <dgm:spPr/>
    </dgm:pt>
    <dgm:pt modelId="{85DE546E-C97C-4F11-83E9-CC6AA8E32BCD}" type="pres">
      <dgm:prSet presAssocID="{296954A5-186B-45A6-AC29-D929AFD1F66E}" presName="parentLeftMargin" presStyleLbl="node1" presStyleIdx="2" presStyleCnt="6"/>
      <dgm:spPr/>
    </dgm:pt>
    <dgm:pt modelId="{D05D6A90-9B3C-4ACD-B9D9-EAD1F61096AF}" type="pres">
      <dgm:prSet presAssocID="{296954A5-186B-45A6-AC29-D929AFD1F66E}" presName="parentText" presStyleLbl="node1" presStyleIdx="3" presStyleCnt="6">
        <dgm:presLayoutVars>
          <dgm:chMax val="0"/>
          <dgm:bulletEnabled val="1"/>
        </dgm:presLayoutVars>
      </dgm:prSet>
      <dgm:spPr/>
    </dgm:pt>
    <dgm:pt modelId="{C7AF76F4-58C2-477A-8BE8-30243523BA60}" type="pres">
      <dgm:prSet presAssocID="{296954A5-186B-45A6-AC29-D929AFD1F66E}" presName="negativeSpace" presStyleCnt="0"/>
      <dgm:spPr/>
    </dgm:pt>
    <dgm:pt modelId="{5EB5C57D-D307-4206-892B-B63B25D4E4A9}" type="pres">
      <dgm:prSet presAssocID="{296954A5-186B-45A6-AC29-D929AFD1F66E}" presName="childText" presStyleLbl="conFgAcc1" presStyleIdx="3" presStyleCnt="6">
        <dgm:presLayoutVars>
          <dgm:bulletEnabled val="1"/>
        </dgm:presLayoutVars>
      </dgm:prSet>
      <dgm:spPr/>
    </dgm:pt>
    <dgm:pt modelId="{355D1049-CC4D-4534-A033-976E9DB83242}" type="pres">
      <dgm:prSet presAssocID="{35C83709-8DD1-4CCB-8F39-0043EA97A4C7}" presName="spaceBetweenRectangles" presStyleCnt="0"/>
      <dgm:spPr/>
    </dgm:pt>
    <dgm:pt modelId="{929A61FA-2232-4EDD-92E2-839496E919A8}" type="pres">
      <dgm:prSet presAssocID="{45E34F96-E54E-4205-9054-C3105C7768EF}" presName="parentLin" presStyleCnt="0"/>
      <dgm:spPr/>
    </dgm:pt>
    <dgm:pt modelId="{85B2B6E6-E113-4DEE-9695-220CA2785B14}" type="pres">
      <dgm:prSet presAssocID="{45E34F96-E54E-4205-9054-C3105C7768EF}" presName="parentLeftMargin" presStyleLbl="node1" presStyleIdx="3" presStyleCnt="6"/>
      <dgm:spPr/>
    </dgm:pt>
    <dgm:pt modelId="{F4D509DA-1A1A-407E-A973-5EF195A90BBC}" type="pres">
      <dgm:prSet presAssocID="{45E34F96-E54E-4205-9054-C3105C7768EF}" presName="parentText" presStyleLbl="node1" presStyleIdx="4" presStyleCnt="6">
        <dgm:presLayoutVars>
          <dgm:chMax val="0"/>
          <dgm:bulletEnabled val="1"/>
        </dgm:presLayoutVars>
      </dgm:prSet>
      <dgm:spPr/>
    </dgm:pt>
    <dgm:pt modelId="{076B0376-3E58-406C-A540-5BFC6EC2A3A0}" type="pres">
      <dgm:prSet presAssocID="{45E34F96-E54E-4205-9054-C3105C7768EF}" presName="negativeSpace" presStyleCnt="0"/>
      <dgm:spPr/>
    </dgm:pt>
    <dgm:pt modelId="{3F9CDDF1-2A7E-41C6-A9E0-2C79C3BA4C42}" type="pres">
      <dgm:prSet presAssocID="{45E34F96-E54E-4205-9054-C3105C7768EF}" presName="childText" presStyleLbl="conFgAcc1" presStyleIdx="4" presStyleCnt="6">
        <dgm:presLayoutVars>
          <dgm:bulletEnabled val="1"/>
        </dgm:presLayoutVars>
      </dgm:prSet>
      <dgm:spPr/>
    </dgm:pt>
    <dgm:pt modelId="{0041D62B-F583-4E6D-9D61-C350D1ACB2C4}" type="pres">
      <dgm:prSet presAssocID="{29F7FECF-FF41-4161-865A-7B671BCA0964}" presName="spaceBetweenRectangles" presStyleCnt="0"/>
      <dgm:spPr/>
    </dgm:pt>
    <dgm:pt modelId="{90325CF9-D3B1-4D28-8B55-FA1B40CCC5B8}" type="pres">
      <dgm:prSet presAssocID="{D4060373-D5A4-4E28-B82F-BB5949A58480}" presName="parentLin" presStyleCnt="0"/>
      <dgm:spPr/>
    </dgm:pt>
    <dgm:pt modelId="{3B0585C7-6B2A-4947-9EDE-7943393A91AB}" type="pres">
      <dgm:prSet presAssocID="{D4060373-D5A4-4E28-B82F-BB5949A58480}" presName="parentLeftMargin" presStyleLbl="node1" presStyleIdx="4" presStyleCnt="6"/>
      <dgm:spPr/>
    </dgm:pt>
    <dgm:pt modelId="{E559070E-66FC-4593-8D62-880863786BD4}" type="pres">
      <dgm:prSet presAssocID="{D4060373-D5A4-4E28-B82F-BB5949A58480}" presName="parentText" presStyleLbl="node1" presStyleIdx="5" presStyleCnt="6">
        <dgm:presLayoutVars>
          <dgm:chMax val="0"/>
          <dgm:bulletEnabled val="1"/>
        </dgm:presLayoutVars>
      </dgm:prSet>
      <dgm:spPr/>
    </dgm:pt>
    <dgm:pt modelId="{3993F389-CD15-415F-89EC-18C93C7624E3}" type="pres">
      <dgm:prSet presAssocID="{D4060373-D5A4-4E28-B82F-BB5949A58480}" presName="negativeSpace" presStyleCnt="0"/>
      <dgm:spPr/>
    </dgm:pt>
    <dgm:pt modelId="{011D42A0-D7B9-4469-AAC0-F6D69F7F4848}" type="pres">
      <dgm:prSet presAssocID="{D4060373-D5A4-4E28-B82F-BB5949A58480}" presName="childText" presStyleLbl="conFgAcc1" presStyleIdx="5" presStyleCnt="6">
        <dgm:presLayoutVars>
          <dgm:bulletEnabled val="1"/>
        </dgm:presLayoutVars>
      </dgm:prSet>
      <dgm:spPr/>
    </dgm:pt>
  </dgm:ptLst>
  <dgm:cxnLst>
    <dgm:cxn modelId="{331F5C1D-9A9A-444A-B068-08DCFE415D34}" srcId="{D9F52CBC-69AB-4369-9A40-EB5BFFF656CE}" destId="{67E857A1-7C59-4867-A7A7-F0A8A84983F1}" srcOrd="1" destOrd="0" parTransId="{E5E6BA90-BCC4-4632-8FEA-13C4B08A9E42}" sibTransId="{E734F626-398A-4C77-A126-FEF0DEC43FE5}"/>
    <dgm:cxn modelId="{35BE0522-86DE-4AEF-91AC-B3014D265DB7}" type="presOf" srcId="{570DC703-A710-44D0-9EA3-892258CF0D8C}" destId="{0ED393EF-8DB3-4B28-91F5-2FCF2D8CF83C}" srcOrd="0" destOrd="0" presId="urn:microsoft.com/office/officeart/2005/8/layout/list1"/>
    <dgm:cxn modelId="{AE79093C-D30D-4765-91C8-17D145AA12F9}" type="presOf" srcId="{570DC703-A710-44D0-9EA3-892258CF0D8C}" destId="{09843EBF-8831-47F7-9319-6F876A1A258F}" srcOrd="1" destOrd="0" presId="urn:microsoft.com/office/officeart/2005/8/layout/list1"/>
    <dgm:cxn modelId="{2DA0473C-0A37-4A30-BC0B-508524E7A779}" type="presOf" srcId="{87665BFF-5016-4966-96CB-914759A55887}" destId="{28FA6BEC-EC33-44A2-933F-6A1D6518BAB6}" srcOrd="1" destOrd="0" presId="urn:microsoft.com/office/officeart/2005/8/layout/list1"/>
    <dgm:cxn modelId="{19E5B040-0C36-4EFF-A64D-D1C3B18BF6A7}" type="presOf" srcId="{296954A5-186B-45A6-AC29-D929AFD1F66E}" destId="{D05D6A90-9B3C-4ACD-B9D9-EAD1F61096AF}" srcOrd="1" destOrd="0" presId="urn:microsoft.com/office/officeart/2005/8/layout/list1"/>
    <dgm:cxn modelId="{5F1AEC4A-E6DD-473E-8376-FFA9227A4241}" type="presOf" srcId="{45E34F96-E54E-4205-9054-C3105C7768EF}" destId="{F4D509DA-1A1A-407E-A973-5EF195A90BBC}" srcOrd="1" destOrd="0" presId="urn:microsoft.com/office/officeart/2005/8/layout/list1"/>
    <dgm:cxn modelId="{586ADB80-4D7A-4CFD-B454-B439CE49B391}" type="presOf" srcId="{296954A5-186B-45A6-AC29-D929AFD1F66E}" destId="{85DE546E-C97C-4F11-83E9-CC6AA8E32BCD}" srcOrd="0" destOrd="0" presId="urn:microsoft.com/office/officeart/2005/8/layout/list1"/>
    <dgm:cxn modelId="{AEB0839C-4485-4587-99DA-FA661F586C7D}" type="presOf" srcId="{67E857A1-7C59-4867-A7A7-F0A8A84983F1}" destId="{475173EE-7931-40F2-9C90-658FF32F2721}" srcOrd="0" destOrd="0" presId="urn:microsoft.com/office/officeart/2005/8/layout/list1"/>
    <dgm:cxn modelId="{0BF933A2-3E2C-470F-8A99-EFB6736A7F03}" type="presOf" srcId="{67E857A1-7C59-4867-A7A7-F0A8A84983F1}" destId="{835280D8-74A2-43A0-A739-918BEA865083}" srcOrd="1" destOrd="0" presId="urn:microsoft.com/office/officeart/2005/8/layout/list1"/>
    <dgm:cxn modelId="{7A854BA2-98D9-4800-97A1-2317BCC5F210}" srcId="{D9F52CBC-69AB-4369-9A40-EB5BFFF656CE}" destId="{45E34F96-E54E-4205-9054-C3105C7768EF}" srcOrd="4" destOrd="0" parTransId="{015256D3-6054-451E-88DC-B6B4EACD19F5}" sibTransId="{29F7FECF-FF41-4161-865A-7B671BCA0964}"/>
    <dgm:cxn modelId="{5B9CD7B2-1CC3-4E01-B5AE-34A295D3A47A}" srcId="{D9F52CBC-69AB-4369-9A40-EB5BFFF656CE}" destId="{570DC703-A710-44D0-9EA3-892258CF0D8C}" srcOrd="0" destOrd="0" parTransId="{6D3985E2-2A65-46D9-B77D-7FB1A17A6326}" sibTransId="{3531166C-FC36-436C-967E-4763C893D491}"/>
    <dgm:cxn modelId="{470F81BF-96A7-470F-9027-4ACE18DA65D9}" srcId="{D9F52CBC-69AB-4369-9A40-EB5BFFF656CE}" destId="{87665BFF-5016-4966-96CB-914759A55887}" srcOrd="2" destOrd="0" parTransId="{3193F448-D65B-47D4-9E5C-34E553449913}" sibTransId="{DC9B5873-558E-456A-A6AA-490316CC03FC}"/>
    <dgm:cxn modelId="{8959EDD1-9ED2-4474-8D57-6EB6844D7951}" type="presOf" srcId="{D4060373-D5A4-4E28-B82F-BB5949A58480}" destId="{3B0585C7-6B2A-4947-9EDE-7943393A91AB}" srcOrd="0" destOrd="0" presId="urn:microsoft.com/office/officeart/2005/8/layout/list1"/>
    <dgm:cxn modelId="{66B626D5-5FA4-438C-A854-4C0A850AB061}" type="presOf" srcId="{45E34F96-E54E-4205-9054-C3105C7768EF}" destId="{85B2B6E6-E113-4DEE-9695-220CA2785B14}" srcOrd="0" destOrd="0" presId="urn:microsoft.com/office/officeart/2005/8/layout/list1"/>
    <dgm:cxn modelId="{DC9E3ED6-3BAD-465A-B3A6-0D220C5F28E2}" type="presOf" srcId="{D4060373-D5A4-4E28-B82F-BB5949A58480}" destId="{E559070E-66FC-4593-8D62-880863786BD4}" srcOrd="1" destOrd="0" presId="urn:microsoft.com/office/officeart/2005/8/layout/list1"/>
    <dgm:cxn modelId="{BCAB43E8-FA86-40A8-8E9F-EF50901CB570}" type="presOf" srcId="{D9F52CBC-69AB-4369-9A40-EB5BFFF656CE}" destId="{A0D0CFD1-2CC7-4263-9429-727ACA323166}" srcOrd="0" destOrd="0" presId="urn:microsoft.com/office/officeart/2005/8/layout/list1"/>
    <dgm:cxn modelId="{265B8BF0-EF6D-4C74-8052-8B1D0DBD8273}" srcId="{D9F52CBC-69AB-4369-9A40-EB5BFFF656CE}" destId="{D4060373-D5A4-4E28-B82F-BB5949A58480}" srcOrd="5" destOrd="0" parTransId="{52CC8063-0BF8-4BE1-BFD7-FB06051999D5}" sibTransId="{11D6DCAC-C616-4084-BD43-14D0C6067C6D}"/>
    <dgm:cxn modelId="{E03663F9-E122-49BE-B908-A98814933303}" srcId="{D9F52CBC-69AB-4369-9A40-EB5BFFF656CE}" destId="{296954A5-186B-45A6-AC29-D929AFD1F66E}" srcOrd="3" destOrd="0" parTransId="{50804AC1-A13F-4D6F-919E-181963A3B130}" sibTransId="{35C83709-8DD1-4CCB-8F39-0043EA97A4C7}"/>
    <dgm:cxn modelId="{EC4E0CFB-1D38-47D4-8F00-C44589A49D4C}" type="presOf" srcId="{87665BFF-5016-4966-96CB-914759A55887}" destId="{E87A5484-40EE-4C35-96DC-E2E2731B4EC3}" srcOrd="0" destOrd="0" presId="urn:microsoft.com/office/officeart/2005/8/layout/list1"/>
    <dgm:cxn modelId="{FD3ED8C6-F418-4FD9-B174-C760D4AF303A}" type="presParOf" srcId="{A0D0CFD1-2CC7-4263-9429-727ACA323166}" destId="{F27F03F7-CA6F-4183-BBE7-362B2AAD60DB}" srcOrd="0" destOrd="0" presId="urn:microsoft.com/office/officeart/2005/8/layout/list1"/>
    <dgm:cxn modelId="{7BA2851A-AF37-432E-93CE-686A1A56F612}" type="presParOf" srcId="{F27F03F7-CA6F-4183-BBE7-362B2AAD60DB}" destId="{0ED393EF-8DB3-4B28-91F5-2FCF2D8CF83C}" srcOrd="0" destOrd="0" presId="urn:microsoft.com/office/officeart/2005/8/layout/list1"/>
    <dgm:cxn modelId="{2C681984-A7B1-4021-A2A4-494D5114B5B1}" type="presParOf" srcId="{F27F03F7-CA6F-4183-BBE7-362B2AAD60DB}" destId="{09843EBF-8831-47F7-9319-6F876A1A258F}" srcOrd="1" destOrd="0" presId="urn:microsoft.com/office/officeart/2005/8/layout/list1"/>
    <dgm:cxn modelId="{DAC25C79-B9B6-404F-8149-10201A59F1A4}" type="presParOf" srcId="{A0D0CFD1-2CC7-4263-9429-727ACA323166}" destId="{265E37F4-E852-42C9-8746-2C249F5B6688}" srcOrd="1" destOrd="0" presId="urn:microsoft.com/office/officeart/2005/8/layout/list1"/>
    <dgm:cxn modelId="{0E32ED9F-10A3-4EEE-9567-A8545F311180}" type="presParOf" srcId="{A0D0CFD1-2CC7-4263-9429-727ACA323166}" destId="{5EB8E373-905A-401C-BEB2-E8C220DC7D99}" srcOrd="2" destOrd="0" presId="urn:microsoft.com/office/officeart/2005/8/layout/list1"/>
    <dgm:cxn modelId="{C42A66D9-FBEC-4761-90C5-8685C49484B3}" type="presParOf" srcId="{A0D0CFD1-2CC7-4263-9429-727ACA323166}" destId="{22451322-AD9E-443B-B609-1BDA0E004BC1}" srcOrd="3" destOrd="0" presId="urn:microsoft.com/office/officeart/2005/8/layout/list1"/>
    <dgm:cxn modelId="{2FE1B40F-2EDD-4331-87DD-C3CDE17E2C9C}" type="presParOf" srcId="{A0D0CFD1-2CC7-4263-9429-727ACA323166}" destId="{332562C0-FC0E-4350-9047-2C2B6FD723FD}" srcOrd="4" destOrd="0" presId="urn:microsoft.com/office/officeart/2005/8/layout/list1"/>
    <dgm:cxn modelId="{0591B0E3-DDEA-4DE7-B832-D22E32A00723}" type="presParOf" srcId="{332562C0-FC0E-4350-9047-2C2B6FD723FD}" destId="{475173EE-7931-40F2-9C90-658FF32F2721}" srcOrd="0" destOrd="0" presId="urn:microsoft.com/office/officeart/2005/8/layout/list1"/>
    <dgm:cxn modelId="{EEEE25AF-401C-4C40-8F27-DF384F0C1A31}" type="presParOf" srcId="{332562C0-FC0E-4350-9047-2C2B6FD723FD}" destId="{835280D8-74A2-43A0-A739-918BEA865083}" srcOrd="1" destOrd="0" presId="urn:microsoft.com/office/officeart/2005/8/layout/list1"/>
    <dgm:cxn modelId="{6BB92A45-59E6-413A-BFC1-452E716E1E19}" type="presParOf" srcId="{A0D0CFD1-2CC7-4263-9429-727ACA323166}" destId="{0BC3C9EC-D2AB-4EA8-BC03-19B6DF46937B}" srcOrd="5" destOrd="0" presId="urn:microsoft.com/office/officeart/2005/8/layout/list1"/>
    <dgm:cxn modelId="{9C75BA2C-87C5-4C99-810D-C53BFFE918EE}" type="presParOf" srcId="{A0D0CFD1-2CC7-4263-9429-727ACA323166}" destId="{659BBB04-AE65-4819-8BFF-CB22A7F98373}" srcOrd="6" destOrd="0" presId="urn:microsoft.com/office/officeart/2005/8/layout/list1"/>
    <dgm:cxn modelId="{31E74052-FEB1-41AE-B067-21D24D437A9B}" type="presParOf" srcId="{A0D0CFD1-2CC7-4263-9429-727ACA323166}" destId="{BDD5E194-7E1F-4841-9884-371747EE2D73}" srcOrd="7" destOrd="0" presId="urn:microsoft.com/office/officeart/2005/8/layout/list1"/>
    <dgm:cxn modelId="{CED79925-953A-4D52-8B1B-2968BB81872B}" type="presParOf" srcId="{A0D0CFD1-2CC7-4263-9429-727ACA323166}" destId="{D4FD0665-340A-4E94-B129-2EBFEB5A3D85}" srcOrd="8" destOrd="0" presId="urn:microsoft.com/office/officeart/2005/8/layout/list1"/>
    <dgm:cxn modelId="{648FC892-1A7A-4329-B571-A5714856B05A}" type="presParOf" srcId="{D4FD0665-340A-4E94-B129-2EBFEB5A3D85}" destId="{E87A5484-40EE-4C35-96DC-E2E2731B4EC3}" srcOrd="0" destOrd="0" presId="urn:microsoft.com/office/officeart/2005/8/layout/list1"/>
    <dgm:cxn modelId="{16982937-0A0F-4E7A-92A9-CC9CF0C6909A}" type="presParOf" srcId="{D4FD0665-340A-4E94-B129-2EBFEB5A3D85}" destId="{28FA6BEC-EC33-44A2-933F-6A1D6518BAB6}" srcOrd="1" destOrd="0" presId="urn:microsoft.com/office/officeart/2005/8/layout/list1"/>
    <dgm:cxn modelId="{C38E8F2B-58F4-4CD5-BBCA-2B7E5D574CF7}" type="presParOf" srcId="{A0D0CFD1-2CC7-4263-9429-727ACA323166}" destId="{6C1E4FD9-E024-4717-9EE0-DD897E936749}" srcOrd="9" destOrd="0" presId="urn:microsoft.com/office/officeart/2005/8/layout/list1"/>
    <dgm:cxn modelId="{2382C277-E5F0-41BA-99AB-458E9C70970E}" type="presParOf" srcId="{A0D0CFD1-2CC7-4263-9429-727ACA323166}" destId="{917B1B18-5E43-4AC9-A5E2-93726C040CA5}" srcOrd="10" destOrd="0" presId="urn:microsoft.com/office/officeart/2005/8/layout/list1"/>
    <dgm:cxn modelId="{E7674A1C-3D40-4B8C-81EE-9F408B9D2410}" type="presParOf" srcId="{A0D0CFD1-2CC7-4263-9429-727ACA323166}" destId="{60A2F71D-6BDF-4242-B374-545A7C9B72A3}" srcOrd="11" destOrd="0" presId="urn:microsoft.com/office/officeart/2005/8/layout/list1"/>
    <dgm:cxn modelId="{A52EBCE0-2818-43F2-94D3-549A8CDA944C}" type="presParOf" srcId="{A0D0CFD1-2CC7-4263-9429-727ACA323166}" destId="{D644ACDC-2728-4FF3-B0E8-30F670439797}" srcOrd="12" destOrd="0" presId="urn:microsoft.com/office/officeart/2005/8/layout/list1"/>
    <dgm:cxn modelId="{2379E07A-1A2A-4A99-BF22-B56340F2AC9F}" type="presParOf" srcId="{D644ACDC-2728-4FF3-B0E8-30F670439797}" destId="{85DE546E-C97C-4F11-83E9-CC6AA8E32BCD}" srcOrd="0" destOrd="0" presId="urn:microsoft.com/office/officeart/2005/8/layout/list1"/>
    <dgm:cxn modelId="{4325BACF-D115-4A17-869E-258A4239FE66}" type="presParOf" srcId="{D644ACDC-2728-4FF3-B0E8-30F670439797}" destId="{D05D6A90-9B3C-4ACD-B9D9-EAD1F61096AF}" srcOrd="1" destOrd="0" presId="urn:microsoft.com/office/officeart/2005/8/layout/list1"/>
    <dgm:cxn modelId="{ED79EBB1-5C4C-4F26-A41D-DAB5E4A2DD17}" type="presParOf" srcId="{A0D0CFD1-2CC7-4263-9429-727ACA323166}" destId="{C7AF76F4-58C2-477A-8BE8-30243523BA60}" srcOrd="13" destOrd="0" presId="urn:microsoft.com/office/officeart/2005/8/layout/list1"/>
    <dgm:cxn modelId="{3BC5E7F3-389B-48A0-81BE-C654C25288F9}" type="presParOf" srcId="{A0D0CFD1-2CC7-4263-9429-727ACA323166}" destId="{5EB5C57D-D307-4206-892B-B63B25D4E4A9}" srcOrd="14" destOrd="0" presId="urn:microsoft.com/office/officeart/2005/8/layout/list1"/>
    <dgm:cxn modelId="{284D513B-A9E8-49E1-BC05-6C17E947FFBC}" type="presParOf" srcId="{A0D0CFD1-2CC7-4263-9429-727ACA323166}" destId="{355D1049-CC4D-4534-A033-976E9DB83242}" srcOrd="15" destOrd="0" presId="urn:microsoft.com/office/officeart/2005/8/layout/list1"/>
    <dgm:cxn modelId="{75DBF455-5DB6-423B-9AC8-A6100A0A925C}" type="presParOf" srcId="{A0D0CFD1-2CC7-4263-9429-727ACA323166}" destId="{929A61FA-2232-4EDD-92E2-839496E919A8}" srcOrd="16" destOrd="0" presId="urn:microsoft.com/office/officeart/2005/8/layout/list1"/>
    <dgm:cxn modelId="{CABF6922-1B68-4CD7-9600-1B5E4480FBD3}" type="presParOf" srcId="{929A61FA-2232-4EDD-92E2-839496E919A8}" destId="{85B2B6E6-E113-4DEE-9695-220CA2785B14}" srcOrd="0" destOrd="0" presId="urn:microsoft.com/office/officeart/2005/8/layout/list1"/>
    <dgm:cxn modelId="{4E3036A6-A619-4617-A1F9-713AF3793C83}" type="presParOf" srcId="{929A61FA-2232-4EDD-92E2-839496E919A8}" destId="{F4D509DA-1A1A-407E-A973-5EF195A90BBC}" srcOrd="1" destOrd="0" presId="urn:microsoft.com/office/officeart/2005/8/layout/list1"/>
    <dgm:cxn modelId="{C829A125-CE67-429F-B020-141172A03D6B}" type="presParOf" srcId="{A0D0CFD1-2CC7-4263-9429-727ACA323166}" destId="{076B0376-3E58-406C-A540-5BFC6EC2A3A0}" srcOrd="17" destOrd="0" presId="urn:microsoft.com/office/officeart/2005/8/layout/list1"/>
    <dgm:cxn modelId="{2D3D42C2-5C2A-4940-A105-515C0540AC09}" type="presParOf" srcId="{A0D0CFD1-2CC7-4263-9429-727ACA323166}" destId="{3F9CDDF1-2A7E-41C6-A9E0-2C79C3BA4C42}" srcOrd="18" destOrd="0" presId="urn:microsoft.com/office/officeart/2005/8/layout/list1"/>
    <dgm:cxn modelId="{7BAA60CE-20EE-4144-99B2-4E272553676E}" type="presParOf" srcId="{A0D0CFD1-2CC7-4263-9429-727ACA323166}" destId="{0041D62B-F583-4E6D-9D61-C350D1ACB2C4}" srcOrd="19" destOrd="0" presId="urn:microsoft.com/office/officeart/2005/8/layout/list1"/>
    <dgm:cxn modelId="{DEE0333F-AB1C-4472-9C20-02A6DB76888C}" type="presParOf" srcId="{A0D0CFD1-2CC7-4263-9429-727ACA323166}" destId="{90325CF9-D3B1-4D28-8B55-FA1B40CCC5B8}" srcOrd="20" destOrd="0" presId="urn:microsoft.com/office/officeart/2005/8/layout/list1"/>
    <dgm:cxn modelId="{99F18327-C2EF-4006-A4A2-8AE3558E3A5E}" type="presParOf" srcId="{90325CF9-D3B1-4D28-8B55-FA1B40CCC5B8}" destId="{3B0585C7-6B2A-4947-9EDE-7943393A91AB}" srcOrd="0" destOrd="0" presId="urn:microsoft.com/office/officeart/2005/8/layout/list1"/>
    <dgm:cxn modelId="{1EFC7EF4-5DFA-416F-AD82-57F0DF6E4A56}" type="presParOf" srcId="{90325CF9-D3B1-4D28-8B55-FA1B40CCC5B8}" destId="{E559070E-66FC-4593-8D62-880863786BD4}" srcOrd="1" destOrd="0" presId="urn:microsoft.com/office/officeart/2005/8/layout/list1"/>
    <dgm:cxn modelId="{72013C1D-1DC3-48D2-8A5A-8D50CB9387B6}" type="presParOf" srcId="{A0D0CFD1-2CC7-4263-9429-727ACA323166}" destId="{3993F389-CD15-415F-89EC-18C93C7624E3}" srcOrd="21" destOrd="0" presId="urn:microsoft.com/office/officeart/2005/8/layout/list1"/>
    <dgm:cxn modelId="{25BBF0F5-C87B-47AE-BF0B-9E7A41BCEA16}" type="presParOf" srcId="{A0D0CFD1-2CC7-4263-9429-727ACA323166}" destId="{011D42A0-D7B9-4469-AAC0-F6D69F7F4848}" srcOrd="2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4F3C081-1C02-405B-A1CA-9302378EA49F}" type="doc">
      <dgm:prSet loTypeId="urn:microsoft.com/office/officeart/2008/layout/LinedList" loCatId="list" qsTypeId="urn:microsoft.com/office/officeart/2005/8/quickstyle/simple5" qsCatId="simple" csTypeId="urn:microsoft.com/office/officeart/2005/8/colors/accent2_2" csCatId="accent2" phldr="1"/>
      <dgm:spPr/>
      <dgm:t>
        <a:bodyPr/>
        <a:lstStyle/>
        <a:p>
          <a:endParaRPr lang="en-US"/>
        </a:p>
      </dgm:t>
    </dgm:pt>
    <dgm:pt modelId="{CB9B6E32-8142-4013-92D1-8C077D32558E}">
      <dgm:prSet/>
      <dgm:spPr/>
      <dgm:t>
        <a:bodyPr anchor="ctr"/>
        <a:lstStyle/>
        <a:p>
          <a:pPr>
            <a:defRPr cap="all"/>
          </a:pPr>
          <a:r>
            <a:rPr lang="en-CA" cap="none" dirty="0"/>
            <a:t>What is the accepted frame rate for our application?</a:t>
          </a:r>
          <a:endParaRPr lang="en-US" cap="none" dirty="0"/>
        </a:p>
      </dgm:t>
    </dgm:pt>
    <dgm:pt modelId="{528DEB90-B693-4AC8-8AD8-3954D276484F}" type="parTrans" cxnId="{0A6EE4FF-69E7-4BF0-975B-1D2B2A88A4C9}">
      <dgm:prSet/>
      <dgm:spPr/>
      <dgm:t>
        <a:bodyPr/>
        <a:lstStyle/>
        <a:p>
          <a:endParaRPr lang="en-US"/>
        </a:p>
      </dgm:t>
    </dgm:pt>
    <dgm:pt modelId="{FA3B9B0D-E8B5-468D-A679-6D549B64F628}" type="sibTrans" cxnId="{0A6EE4FF-69E7-4BF0-975B-1D2B2A88A4C9}">
      <dgm:prSet/>
      <dgm:spPr/>
      <dgm:t>
        <a:bodyPr/>
        <a:lstStyle/>
        <a:p>
          <a:endParaRPr lang="en-US"/>
        </a:p>
      </dgm:t>
    </dgm:pt>
    <dgm:pt modelId="{35DFB09F-FF4E-440B-BEAE-B837788C6FE7}">
      <dgm:prSet/>
      <dgm:spPr/>
      <dgm:t>
        <a:bodyPr anchor="ctr"/>
        <a:lstStyle/>
        <a:p>
          <a:pPr>
            <a:defRPr cap="all"/>
          </a:pPr>
          <a:r>
            <a:rPr lang="en-CA" cap="none" dirty="0"/>
            <a:t>Should we make our entire application hardware specific, as the trade off between the accuracy and speed is clearly dictated by the configuration of hardware?</a:t>
          </a:r>
        </a:p>
        <a:p>
          <a:pPr>
            <a:defRPr cap="all"/>
          </a:pPr>
          <a:endParaRPr lang="en-US" cap="none" dirty="0"/>
        </a:p>
      </dgm:t>
    </dgm:pt>
    <dgm:pt modelId="{F8A2806C-15E5-4C8A-8D79-F3D9E7F219C4}" type="parTrans" cxnId="{D73DD8AC-F63A-4561-A854-3658CCA9F8ED}">
      <dgm:prSet/>
      <dgm:spPr/>
      <dgm:t>
        <a:bodyPr/>
        <a:lstStyle/>
        <a:p>
          <a:endParaRPr lang="en-US"/>
        </a:p>
      </dgm:t>
    </dgm:pt>
    <dgm:pt modelId="{01B9BB7E-E6A8-4063-AD73-111E7845C7E5}" type="sibTrans" cxnId="{D73DD8AC-F63A-4561-A854-3658CCA9F8ED}">
      <dgm:prSet/>
      <dgm:spPr/>
      <dgm:t>
        <a:bodyPr/>
        <a:lstStyle/>
        <a:p>
          <a:endParaRPr lang="en-US"/>
        </a:p>
      </dgm:t>
    </dgm:pt>
    <dgm:pt modelId="{E4321679-8DDE-4F3F-8CA9-32A9C2891F7D}">
      <dgm:prSet/>
      <dgm:spPr/>
      <dgm:t>
        <a:bodyPr anchor="ctr"/>
        <a:lstStyle/>
        <a:p>
          <a:pPr>
            <a:defRPr cap="all"/>
          </a:pPr>
          <a:r>
            <a:rPr lang="en-CA" cap="none" dirty="0"/>
            <a:t>Suggestions on further optimizations of the models.</a:t>
          </a:r>
          <a:endParaRPr lang="en-US" cap="none" dirty="0"/>
        </a:p>
      </dgm:t>
    </dgm:pt>
    <dgm:pt modelId="{95606937-24C8-40F7-A7F8-EEBF0A912AD1}" type="parTrans" cxnId="{234248D4-C93F-4474-B0DF-48561ED4E8C2}">
      <dgm:prSet/>
      <dgm:spPr/>
      <dgm:t>
        <a:bodyPr/>
        <a:lstStyle/>
        <a:p>
          <a:endParaRPr lang="en-US"/>
        </a:p>
      </dgm:t>
    </dgm:pt>
    <dgm:pt modelId="{B6B93719-0CDC-445E-A5C6-6DC98892ED68}" type="sibTrans" cxnId="{234248D4-C93F-4474-B0DF-48561ED4E8C2}">
      <dgm:prSet/>
      <dgm:spPr/>
      <dgm:t>
        <a:bodyPr/>
        <a:lstStyle/>
        <a:p>
          <a:endParaRPr lang="en-US"/>
        </a:p>
      </dgm:t>
    </dgm:pt>
    <dgm:pt modelId="{66197726-8C33-4D03-A050-5B5E872A0BDD}">
      <dgm:prSet/>
      <dgm:spPr/>
      <dgm:t>
        <a:bodyPr anchor="ctr"/>
        <a:lstStyle/>
        <a:p>
          <a:pPr>
            <a:defRPr cap="all"/>
          </a:pPr>
          <a:r>
            <a:rPr lang="en-IN" cap="none" dirty="0"/>
            <a:t>Does it make sense to train the model(on crosswalk specific dataset) to enhance the detection capability for existing “person” class to reduce false negatives? [As model is already detecting person in the frame]</a:t>
          </a:r>
          <a:endParaRPr lang="en-US" cap="none" dirty="0"/>
        </a:p>
      </dgm:t>
    </dgm:pt>
    <dgm:pt modelId="{9830726F-C368-432E-A177-BD9FF2BD76C2}" type="parTrans" cxnId="{51A017CD-B3A6-48BC-B579-8E7DB8483249}">
      <dgm:prSet/>
      <dgm:spPr/>
      <dgm:t>
        <a:bodyPr/>
        <a:lstStyle/>
        <a:p>
          <a:endParaRPr lang="en-US"/>
        </a:p>
      </dgm:t>
    </dgm:pt>
    <dgm:pt modelId="{C0D751E2-7A71-4330-A083-EF9DA2ED5329}" type="sibTrans" cxnId="{51A017CD-B3A6-48BC-B579-8E7DB8483249}">
      <dgm:prSet/>
      <dgm:spPr/>
      <dgm:t>
        <a:bodyPr/>
        <a:lstStyle/>
        <a:p>
          <a:endParaRPr lang="en-US"/>
        </a:p>
      </dgm:t>
    </dgm:pt>
    <dgm:pt modelId="{851A8A63-C7C5-4096-B5B5-9F9B29FBE6FE}" type="pres">
      <dgm:prSet presAssocID="{14F3C081-1C02-405B-A1CA-9302378EA49F}" presName="vert0" presStyleCnt="0">
        <dgm:presLayoutVars>
          <dgm:dir/>
          <dgm:animOne val="branch"/>
          <dgm:animLvl val="lvl"/>
        </dgm:presLayoutVars>
      </dgm:prSet>
      <dgm:spPr/>
    </dgm:pt>
    <dgm:pt modelId="{36984E7A-8667-49E9-99F5-559436FBD403}" type="pres">
      <dgm:prSet presAssocID="{CB9B6E32-8142-4013-92D1-8C077D32558E}" presName="thickLine" presStyleLbl="alignNode1" presStyleIdx="0" presStyleCnt="4"/>
      <dgm:spPr/>
    </dgm:pt>
    <dgm:pt modelId="{87AF6C0F-33D4-4858-A5E5-A80026D46835}" type="pres">
      <dgm:prSet presAssocID="{CB9B6E32-8142-4013-92D1-8C077D32558E}" presName="horz1" presStyleCnt="0"/>
      <dgm:spPr/>
    </dgm:pt>
    <dgm:pt modelId="{48FEB54E-DA6D-451A-9CE1-57DC9DEF33B9}" type="pres">
      <dgm:prSet presAssocID="{CB9B6E32-8142-4013-92D1-8C077D32558E}" presName="tx1" presStyleLbl="revTx" presStyleIdx="0" presStyleCnt="4"/>
      <dgm:spPr/>
    </dgm:pt>
    <dgm:pt modelId="{DD64604A-DF57-4C08-901D-759B3132D1C3}" type="pres">
      <dgm:prSet presAssocID="{CB9B6E32-8142-4013-92D1-8C077D32558E}" presName="vert1" presStyleCnt="0"/>
      <dgm:spPr/>
    </dgm:pt>
    <dgm:pt modelId="{705F2817-90BA-4EE3-82E2-3C096E0BB267}" type="pres">
      <dgm:prSet presAssocID="{35DFB09F-FF4E-440B-BEAE-B837788C6FE7}" presName="thickLine" presStyleLbl="alignNode1" presStyleIdx="1" presStyleCnt="4"/>
      <dgm:spPr/>
    </dgm:pt>
    <dgm:pt modelId="{D5549D35-BC45-4018-AEAB-DCE09CAED02E}" type="pres">
      <dgm:prSet presAssocID="{35DFB09F-FF4E-440B-BEAE-B837788C6FE7}" presName="horz1" presStyleCnt="0"/>
      <dgm:spPr/>
    </dgm:pt>
    <dgm:pt modelId="{D86A99D4-0D03-4C60-85FA-2F224B006CE9}" type="pres">
      <dgm:prSet presAssocID="{35DFB09F-FF4E-440B-BEAE-B837788C6FE7}" presName="tx1" presStyleLbl="revTx" presStyleIdx="1" presStyleCnt="4"/>
      <dgm:spPr/>
    </dgm:pt>
    <dgm:pt modelId="{34DB8547-B7CC-46A2-ABDA-125615819AD9}" type="pres">
      <dgm:prSet presAssocID="{35DFB09F-FF4E-440B-BEAE-B837788C6FE7}" presName="vert1" presStyleCnt="0"/>
      <dgm:spPr/>
    </dgm:pt>
    <dgm:pt modelId="{B35C5DCE-07CF-4EB5-AEB3-3FD2C8303AFB}" type="pres">
      <dgm:prSet presAssocID="{E4321679-8DDE-4F3F-8CA9-32A9C2891F7D}" presName="thickLine" presStyleLbl="alignNode1" presStyleIdx="2" presStyleCnt="4"/>
      <dgm:spPr/>
    </dgm:pt>
    <dgm:pt modelId="{190743D1-6B29-4A57-9AA7-55CA561E9277}" type="pres">
      <dgm:prSet presAssocID="{E4321679-8DDE-4F3F-8CA9-32A9C2891F7D}" presName="horz1" presStyleCnt="0"/>
      <dgm:spPr/>
    </dgm:pt>
    <dgm:pt modelId="{BBE836B2-6969-4723-A639-8648FE4957D3}" type="pres">
      <dgm:prSet presAssocID="{E4321679-8DDE-4F3F-8CA9-32A9C2891F7D}" presName="tx1" presStyleLbl="revTx" presStyleIdx="2" presStyleCnt="4"/>
      <dgm:spPr/>
    </dgm:pt>
    <dgm:pt modelId="{1433E60C-9FF5-4CD2-904C-480947B2751F}" type="pres">
      <dgm:prSet presAssocID="{E4321679-8DDE-4F3F-8CA9-32A9C2891F7D}" presName="vert1" presStyleCnt="0"/>
      <dgm:spPr/>
    </dgm:pt>
    <dgm:pt modelId="{2966EFB2-35B5-4838-8120-6DD2ECBE0AAC}" type="pres">
      <dgm:prSet presAssocID="{66197726-8C33-4D03-A050-5B5E872A0BDD}" presName="thickLine" presStyleLbl="alignNode1" presStyleIdx="3" presStyleCnt="4"/>
      <dgm:spPr/>
    </dgm:pt>
    <dgm:pt modelId="{B0182240-2237-47C9-934C-FDC033AB7E3B}" type="pres">
      <dgm:prSet presAssocID="{66197726-8C33-4D03-A050-5B5E872A0BDD}" presName="horz1" presStyleCnt="0"/>
      <dgm:spPr/>
    </dgm:pt>
    <dgm:pt modelId="{A6902941-2F55-465A-81E1-4849BB0232A0}" type="pres">
      <dgm:prSet presAssocID="{66197726-8C33-4D03-A050-5B5E872A0BDD}" presName="tx1" presStyleLbl="revTx" presStyleIdx="3" presStyleCnt="4"/>
      <dgm:spPr/>
    </dgm:pt>
    <dgm:pt modelId="{82210383-9DE8-44AE-BBFC-2437D6177723}" type="pres">
      <dgm:prSet presAssocID="{66197726-8C33-4D03-A050-5B5E872A0BDD}" presName="vert1" presStyleCnt="0"/>
      <dgm:spPr/>
    </dgm:pt>
  </dgm:ptLst>
  <dgm:cxnLst>
    <dgm:cxn modelId="{3095BB6E-8ED9-4F60-8B93-A2394BFF7BA0}" type="presOf" srcId="{CB9B6E32-8142-4013-92D1-8C077D32558E}" destId="{48FEB54E-DA6D-451A-9CE1-57DC9DEF33B9}" srcOrd="0" destOrd="0" presId="urn:microsoft.com/office/officeart/2008/layout/LinedList"/>
    <dgm:cxn modelId="{AEDEF054-9331-48F8-808B-F2774E74FFAC}" type="presOf" srcId="{14F3C081-1C02-405B-A1CA-9302378EA49F}" destId="{851A8A63-C7C5-4096-B5B5-9F9B29FBE6FE}" srcOrd="0" destOrd="0" presId="urn:microsoft.com/office/officeart/2008/layout/LinedList"/>
    <dgm:cxn modelId="{328BDC92-0E00-494C-8D01-B41CF772EF0E}" type="presOf" srcId="{E4321679-8DDE-4F3F-8CA9-32A9C2891F7D}" destId="{BBE836B2-6969-4723-A639-8648FE4957D3}" srcOrd="0" destOrd="0" presId="urn:microsoft.com/office/officeart/2008/layout/LinedList"/>
    <dgm:cxn modelId="{D73DD8AC-F63A-4561-A854-3658CCA9F8ED}" srcId="{14F3C081-1C02-405B-A1CA-9302378EA49F}" destId="{35DFB09F-FF4E-440B-BEAE-B837788C6FE7}" srcOrd="1" destOrd="0" parTransId="{F8A2806C-15E5-4C8A-8D79-F3D9E7F219C4}" sibTransId="{01B9BB7E-E6A8-4063-AD73-111E7845C7E5}"/>
    <dgm:cxn modelId="{51A017CD-B3A6-48BC-B579-8E7DB8483249}" srcId="{14F3C081-1C02-405B-A1CA-9302378EA49F}" destId="{66197726-8C33-4D03-A050-5B5E872A0BDD}" srcOrd="3" destOrd="0" parTransId="{9830726F-C368-432E-A177-BD9FF2BD76C2}" sibTransId="{C0D751E2-7A71-4330-A083-EF9DA2ED5329}"/>
    <dgm:cxn modelId="{234248D4-C93F-4474-B0DF-48561ED4E8C2}" srcId="{14F3C081-1C02-405B-A1CA-9302378EA49F}" destId="{E4321679-8DDE-4F3F-8CA9-32A9C2891F7D}" srcOrd="2" destOrd="0" parTransId="{95606937-24C8-40F7-A7F8-EEBF0A912AD1}" sibTransId="{B6B93719-0CDC-445E-A5C6-6DC98892ED68}"/>
    <dgm:cxn modelId="{5BC25BF5-0A2E-4D89-A307-3925B41E0920}" type="presOf" srcId="{66197726-8C33-4D03-A050-5B5E872A0BDD}" destId="{A6902941-2F55-465A-81E1-4849BB0232A0}" srcOrd="0" destOrd="0" presId="urn:microsoft.com/office/officeart/2008/layout/LinedList"/>
    <dgm:cxn modelId="{1A1028FA-58EB-40D1-A28D-790C68AF9857}" type="presOf" srcId="{35DFB09F-FF4E-440B-BEAE-B837788C6FE7}" destId="{D86A99D4-0D03-4C60-85FA-2F224B006CE9}" srcOrd="0" destOrd="0" presId="urn:microsoft.com/office/officeart/2008/layout/LinedList"/>
    <dgm:cxn modelId="{0A6EE4FF-69E7-4BF0-975B-1D2B2A88A4C9}" srcId="{14F3C081-1C02-405B-A1CA-9302378EA49F}" destId="{CB9B6E32-8142-4013-92D1-8C077D32558E}" srcOrd="0" destOrd="0" parTransId="{528DEB90-B693-4AC8-8AD8-3954D276484F}" sibTransId="{FA3B9B0D-E8B5-468D-A679-6D549B64F628}"/>
    <dgm:cxn modelId="{4E2B613E-595B-449E-904E-5959879CC872}" type="presParOf" srcId="{851A8A63-C7C5-4096-B5B5-9F9B29FBE6FE}" destId="{36984E7A-8667-49E9-99F5-559436FBD403}" srcOrd="0" destOrd="0" presId="urn:microsoft.com/office/officeart/2008/layout/LinedList"/>
    <dgm:cxn modelId="{3680A092-8817-48C7-879F-14155901F3E9}" type="presParOf" srcId="{851A8A63-C7C5-4096-B5B5-9F9B29FBE6FE}" destId="{87AF6C0F-33D4-4858-A5E5-A80026D46835}" srcOrd="1" destOrd="0" presId="urn:microsoft.com/office/officeart/2008/layout/LinedList"/>
    <dgm:cxn modelId="{DDF9BA54-3487-4636-8A35-66FD87A3E217}" type="presParOf" srcId="{87AF6C0F-33D4-4858-A5E5-A80026D46835}" destId="{48FEB54E-DA6D-451A-9CE1-57DC9DEF33B9}" srcOrd="0" destOrd="0" presId="urn:microsoft.com/office/officeart/2008/layout/LinedList"/>
    <dgm:cxn modelId="{FE9B3A67-6FCE-4C47-8D14-7D187EDD4C0D}" type="presParOf" srcId="{87AF6C0F-33D4-4858-A5E5-A80026D46835}" destId="{DD64604A-DF57-4C08-901D-759B3132D1C3}" srcOrd="1" destOrd="0" presId="urn:microsoft.com/office/officeart/2008/layout/LinedList"/>
    <dgm:cxn modelId="{C218B766-C6F2-4A62-A9C5-723CF493800F}" type="presParOf" srcId="{851A8A63-C7C5-4096-B5B5-9F9B29FBE6FE}" destId="{705F2817-90BA-4EE3-82E2-3C096E0BB267}" srcOrd="2" destOrd="0" presId="urn:microsoft.com/office/officeart/2008/layout/LinedList"/>
    <dgm:cxn modelId="{47BBADB4-ABC2-4837-A86C-745AB757DFFF}" type="presParOf" srcId="{851A8A63-C7C5-4096-B5B5-9F9B29FBE6FE}" destId="{D5549D35-BC45-4018-AEAB-DCE09CAED02E}" srcOrd="3" destOrd="0" presId="urn:microsoft.com/office/officeart/2008/layout/LinedList"/>
    <dgm:cxn modelId="{3F05031B-8408-4871-AC29-99B554A945A7}" type="presParOf" srcId="{D5549D35-BC45-4018-AEAB-DCE09CAED02E}" destId="{D86A99D4-0D03-4C60-85FA-2F224B006CE9}" srcOrd="0" destOrd="0" presId="urn:microsoft.com/office/officeart/2008/layout/LinedList"/>
    <dgm:cxn modelId="{D7C773CB-346A-4F03-9E33-938C44A97DDD}" type="presParOf" srcId="{D5549D35-BC45-4018-AEAB-DCE09CAED02E}" destId="{34DB8547-B7CC-46A2-ABDA-125615819AD9}" srcOrd="1" destOrd="0" presId="urn:microsoft.com/office/officeart/2008/layout/LinedList"/>
    <dgm:cxn modelId="{30B5BEFB-DB49-41EA-8ED0-AF96B1805779}" type="presParOf" srcId="{851A8A63-C7C5-4096-B5B5-9F9B29FBE6FE}" destId="{B35C5DCE-07CF-4EB5-AEB3-3FD2C8303AFB}" srcOrd="4" destOrd="0" presId="urn:microsoft.com/office/officeart/2008/layout/LinedList"/>
    <dgm:cxn modelId="{CF08C1A1-14E3-4AA1-8D9C-3324B86D2574}" type="presParOf" srcId="{851A8A63-C7C5-4096-B5B5-9F9B29FBE6FE}" destId="{190743D1-6B29-4A57-9AA7-55CA561E9277}" srcOrd="5" destOrd="0" presId="urn:microsoft.com/office/officeart/2008/layout/LinedList"/>
    <dgm:cxn modelId="{BF7EA79F-96B0-4CE9-AC08-5705F442E1C3}" type="presParOf" srcId="{190743D1-6B29-4A57-9AA7-55CA561E9277}" destId="{BBE836B2-6969-4723-A639-8648FE4957D3}" srcOrd="0" destOrd="0" presId="urn:microsoft.com/office/officeart/2008/layout/LinedList"/>
    <dgm:cxn modelId="{A2A2E82B-989B-4B39-9C54-70C082D3E1C1}" type="presParOf" srcId="{190743D1-6B29-4A57-9AA7-55CA561E9277}" destId="{1433E60C-9FF5-4CD2-904C-480947B2751F}" srcOrd="1" destOrd="0" presId="urn:microsoft.com/office/officeart/2008/layout/LinedList"/>
    <dgm:cxn modelId="{033C5FA4-571C-4BD7-A265-6B278BDEE837}" type="presParOf" srcId="{851A8A63-C7C5-4096-B5B5-9F9B29FBE6FE}" destId="{2966EFB2-35B5-4838-8120-6DD2ECBE0AAC}" srcOrd="6" destOrd="0" presId="urn:microsoft.com/office/officeart/2008/layout/LinedList"/>
    <dgm:cxn modelId="{C71CDEFB-304E-4C3B-9AAC-30105C478DA8}" type="presParOf" srcId="{851A8A63-C7C5-4096-B5B5-9F9B29FBE6FE}" destId="{B0182240-2237-47C9-934C-FDC033AB7E3B}" srcOrd="7" destOrd="0" presId="urn:microsoft.com/office/officeart/2008/layout/LinedList"/>
    <dgm:cxn modelId="{25D6737F-230C-49CC-AE0D-0BCA718AE387}" type="presParOf" srcId="{B0182240-2237-47C9-934C-FDC033AB7E3B}" destId="{A6902941-2F55-465A-81E1-4849BB0232A0}" srcOrd="0" destOrd="0" presId="urn:microsoft.com/office/officeart/2008/layout/LinedList"/>
    <dgm:cxn modelId="{569B49C2-85B7-40B0-9B5E-82BB8EC56521}" type="presParOf" srcId="{B0182240-2237-47C9-934C-FDC033AB7E3B}" destId="{82210383-9DE8-44AE-BBFC-2437D6177723}"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B8E373-905A-401C-BEB2-E8C220DC7D99}">
      <dsp:nvSpPr>
        <dsp:cNvPr id="0" name=""/>
        <dsp:cNvSpPr/>
      </dsp:nvSpPr>
      <dsp:spPr>
        <a:xfrm>
          <a:off x="0" y="379943"/>
          <a:ext cx="6263640" cy="504000"/>
        </a:xfrm>
        <a:prstGeom prst="rect">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9843EBF-8831-47F7-9319-6F876A1A258F}">
      <dsp:nvSpPr>
        <dsp:cNvPr id="0" name=""/>
        <dsp:cNvSpPr/>
      </dsp:nvSpPr>
      <dsp:spPr>
        <a:xfrm>
          <a:off x="313182" y="84743"/>
          <a:ext cx="4384548" cy="590400"/>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5725" tIns="0" rIns="165725" bIns="0" numCol="1" spcCol="1270" anchor="ctr" anchorCtr="0">
          <a:noAutofit/>
        </a:bodyPr>
        <a:lstStyle/>
        <a:p>
          <a:pPr marL="0" lvl="0" indent="0" algn="l" defTabSz="889000">
            <a:lnSpc>
              <a:spcPct val="90000"/>
            </a:lnSpc>
            <a:spcBef>
              <a:spcPct val="0"/>
            </a:spcBef>
            <a:spcAft>
              <a:spcPct val="35000"/>
            </a:spcAft>
            <a:buNone/>
          </a:pPr>
          <a:r>
            <a:rPr lang="en-IN" sz="2000" kern="1200"/>
            <a:t>Classification vs Object detection</a:t>
          </a:r>
          <a:endParaRPr lang="en-US" sz="2000" kern="1200"/>
        </a:p>
      </dsp:txBody>
      <dsp:txXfrm>
        <a:off x="342003" y="113564"/>
        <a:ext cx="4326906" cy="532758"/>
      </dsp:txXfrm>
    </dsp:sp>
    <dsp:sp modelId="{659BBB04-AE65-4819-8BFF-CB22A7F98373}">
      <dsp:nvSpPr>
        <dsp:cNvPr id="0" name=""/>
        <dsp:cNvSpPr/>
      </dsp:nvSpPr>
      <dsp:spPr>
        <a:xfrm>
          <a:off x="0" y="1287143"/>
          <a:ext cx="6263640" cy="504000"/>
        </a:xfrm>
        <a:prstGeom prst="rect">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35280D8-74A2-43A0-A739-918BEA865083}">
      <dsp:nvSpPr>
        <dsp:cNvPr id="0" name=""/>
        <dsp:cNvSpPr/>
      </dsp:nvSpPr>
      <dsp:spPr>
        <a:xfrm>
          <a:off x="313182" y="991943"/>
          <a:ext cx="4384548" cy="590400"/>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5725" tIns="0" rIns="165725" bIns="0" numCol="1" spcCol="1270" anchor="ctr" anchorCtr="0">
          <a:noAutofit/>
        </a:bodyPr>
        <a:lstStyle/>
        <a:p>
          <a:pPr marL="0" lvl="0" indent="0" algn="l" defTabSz="889000">
            <a:lnSpc>
              <a:spcPct val="90000"/>
            </a:lnSpc>
            <a:spcBef>
              <a:spcPct val="0"/>
            </a:spcBef>
            <a:spcAft>
              <a:spcPct val="35000"/>
            </a:spcAft>
            <a:buNone/>
          </a:pPr>
          <a:r>
            <a:rPr lang="en-IN" sz="2000" kern="1200"/>
            <a:t>Models Explored</a:t>
          </a:r>
          <a:endParaRPr lang="en-US" sz="2000" kern="1200"/>
        </a:p>
      </dsp:txBody>
      <dsp:txXfrm>
        <a:off x="342003" y="1020764"/>
        <a:ext cx="4326906" cy="532758"/>
      </dsp:txXfrm>
    </dsp:sp>
    <dsp:sp modelId="{917B1B18-5E43-4AC9-A5E2-93726C040CA5}">
      <dsp:nvSpPr>
        <dsp:cNvPr id="0" name=""/>
        <dsp:cNvSpPr/>
      </dsp:nvSpPr>
      <dsp:spPr>
        <a:xfrm>
          <a:off x="0" y="2194343"/>
          <a:ext cx="6263640" cy="504000"/>
        </a:xfrm>
        <a:prstGeom prst="rect">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8FA6BEC-EC33-44A2-933F-6A1D6518BAB6}">
      <dsp:nvSpPr>
        <dsp:cNvPr id="0" name=""/>
        <dsp:cNvSpPr/>
      </dsp:nvSpPr>
      <dsp:spPr>
        <a:xfrm>
          <a:off x="313182" y="1899143"/>
          <a:ext cx="4384548" cy="590400"/>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5725" tIns="0" rIns="165725" bIns="0" numCol="1" spcCol="1270" anchor="ctr" anchorCtr="0">
          <a:noAutofit/>
        </a:bodyPr>
        <a:lstStyle/>
        <a:p>
          <a:pPr marL="0" lvl="0" indent="0" algn="l" defTabSz="889000">
            <a:lnSpc>
              <a:spcPct val="90000"/>
            </a:lnSpc>
            <a:spcBef>
              <a:spcPct val="0"/>
            </a:spcBef>
            <a:spcAft>
              <a:spcPct val="35000"/>
            </a:spcAft>
            <a:buNone/>
          </a:pPr>
          <a:r>
            <a:rPr lang="en-IN" sz="2000" kern="1200"/>
            <a:t>Experimental Setup</a:t>
          </a:r>
          <a:endParaRPr lang="en-US" sz="2000" kern="1200"/>
        </a:p>
      </dsp:txBody>
      <dsp:txXfrm>
        <a:off x="342003" y="1927964"/>
        <a:ext cx="4326906" cy="532758"/>
      </dsp:txXfrm>
    </dsp:sp>
    <dsp:sp modelId="{5EB5C57D-D307-4206-892B-B63B25D4E4A9}">
      <dsp:nvSpPr>
        <dsp:cNvPr id="0" name=""/>
        <dsp:cNvSpPr/>
      </dsp:nvSpPr>
      <dsp:spPr>
        <a:xfrm>
          <a:off x="0" y="3101544"/>
          <a:ext cx="6263640" cy="504000"/>
        </a:xfrm>
        <a:prstGeom prst="rect">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05D6A90-9B3C-4ACD-B9D9-EAD1F61096AF}">
      <dsp:nvSpPr>
        <dsp:cNvPr id="0" name=""/>
        <dsp:cNvSpPr/>
      </dsp:nvSpPr>
      <dsp:spPr>
        <a:xfrm>
          <a:off x="313182" y="2806343"/>
          <a:ext cx="4384548" cy="590400"/>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5725" tIns="0" rIns="165725" bIns="0" numCol="1" spcCol="1270" anchor="ctr" anchorCtr="0">
          <a:noAutofit/>
        </a:bodyPr>
        <a:lstStyle/>
        <a:p>
          <a:pPr marL="0" lvl="0" indent="0" algn="l" defTabSz="889000">
            <a:lnSpc>
              <a:spcPct val="90000"/>
            </a:lnSpc>
            <a:spcBef>
              <a:spcPct val="0"/>
            </a:spcBef>
            <a:spcAft>
              <a:spcPct val="35000"/>
            </a:spcAft>
            <a:buNone/>
          </a:pPr>
          <a:r>
            <a:rPr lang="en-IN" sz="2000" kern="1200"/>
            <a:t>Results</a:t>
          </a:r>
          <a:endParaRPr lang="en-US" sz="2000" kern="1200"/>
        </a:p>
      </dsp:txBody>
      <dsp:txXfrm>
        <a:off x="342003" y="2835164"/>
        <a:ext cx="4326906" cy="532758"/>
      </dsp:txXfrm>
    </dsp:sp>
    <dsp:sp modelId="{3F9CDDF1-2A7E-41C6-A9E0-2C79C3BA4C42}">
      <dsp:nvSpPr>
        <dsp:cNvPr id="0" name=""/>
        <dsp:cNvSpPr/>
      </dsp:nvSpPr>
      <dsp:spPr>
        <a:xfrm>
          <a:off x="0" y="4008744"/>
          <a:ext cx="6263640" cy="504000"/>
        </a:xfrm>
        <a:prstGeom prst="rect">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4D509DA-1A1A-407E-A973-5EF195A90BBC}">
      <dsp:nvSpPr>
        <dsp:cNvPr id="0" name=""/>
        <dsp:cNvSpPr/>
      </dsp:nvSpPr>
      <dsp:spPr>
        <a:xfrm>
          <a:off x="313182" y="3713544"/>
          <a:ext cx="4384548" cy="590400"/>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5725" tIns="0" rIns="165725" bIns="0" numCol="1" spcCol="1270" anchor="ctr" anchorCtr="0">
          <a:noAutofit/>
        </a:bodyPr>
        <a:lstStyle/>
        <a:p>
          <a:pPr marL="0" lvl="0" indent="0" algn="l" defTabSz="889000">
            <a:lnSpc>
              <a:spcPct val="90000"/>
            </a:lnSpc>
            <a:spcBef>
              <a:spcPct val="0"/>
            </a:spcBef>
            <a:spcAft>
              <a:spcPct val="35000"/>
            </a:spcAft>
            <a:buNone/>
          </a:pPr>
          <a:r>
            <a:rPr lang="en-IN" sz="2000" kern="1200"/>
            <a:t>Conclusions</a:t>
          </a:r>
          <a:endParaRPr lang="en-US" sz="2000" kern="1200"/>
        </a:p>
      </dsp:txBody>
      <dsp:txXfrm>
        <a:off x="342003" y="3742365"/>
        <a:ext cx="4326906" cy="532758"/>
      </dsp:txXfrm>
    </dsp:sp>
    <dsp:sp modelId="{011D42A0-D7B9-4469-AAC0-F6D69F7F4848}">
      <dsp:nvSpPr>
        <dsp:cNvPr id="0" name=""/>
        <dsp:cNvSpPr/>
      </dsp:nvSpPr>
      <dsp:spPr>
        <a:xfrm>
          <a:off x="0" y="4915944"/>
          <a:ext cx="6263640" cy="504000"/>
        </a:xfrm>
        <a:prstGeom prst="rect">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559070E-66FC-4593-8D62-880863786BD4}">
      <dsp:nvSpPr>
        <dsp:cNvPr id="0" name=""/>
        <dsp:cNvSpPr/>
      </dsp:nvSpPr>
      <dsp:spPr>
        <a:xfrm>
          <a:off x="313182" y="4620743"/>
          <a:ext cx="4384548" cy="590400"/>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5725" tIns="0" rIns="165725" bIns="0" numCol="1" spcCol="1270" anchor="ctr" anchorCtr="0">
          <a:noAutofit/>
        </a:bodyPr>
        <a:lstStyle/>
        <a:p>
          <a:pPr marL="0" lvl="0" indent="0" algn="l" defTabSz="889000">
            <a:lnSpc>
              <a:spcPct val="90000"/>
            </a:lnSpc>
            <a:spcBef>
              <a:spcPct val="0"/>
            </a:spcBef>
            <a:spcAft>
              <a:spcPct val="35000"/>
            </a:spcAft>
            <a:buNone/>
          </a:pPr>
          <a:r>
            <a:rPr lang="en-IN" sz="2000" kern="1200"/>
            <a:t>Queries</a:t>
          </a:r>
          <a:endParaRPr lang="en-US" sz="2000" kern="1200"/>
        </a:p>
      </dsp:txBody>
      <dsp:txXfrm>
        <a:off x="342003" y="4649564"/>
        <a:ext cx="4326906" cy="53275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6984E7A-8667-49E9-99F5-559436FBD403}">
      <dsp:nvSpPr>
        <dsp:cNvPr id="0" name=""/>
        <dsp:cNvSpPr/>
      </dsp:nvSpPr>
      <dsp:spPr>
        <a:xfrm>
          <a:off x="0" y="0"/>
          <a:ext cx="10515600" cy="0"/>
        </a:xfrm>
        <a:prstGeom prst="lin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6350" cap="flat" cmpd="sng" algn="ctr">
          <a:solidFill>
            <a:schemeClr val="accent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48FEB54E-DA6D-451A-9CE1-57DC9DEF33B9}">
      <dsp:nvSpPr>
        <dsp:cNvPr id="0" name=""/>
        <dsp:cNvSpPr/>
      </dsp:nvSpPr>
      <dsp:spPr>
        <a:xfrm>
          <a:off x="0" y="0"/>
          <a:ext cx="10515600" cy="10878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defRPr cap="all"/>
          </a:pPr>
          <a:r>
            <a:rPr lang="en-CA" sz="1900" kern="1200" cap="none" dirty="0"/>
            <a:t>What is the accepted frame rate for our application?</a:t>
          </a:r>
          <a:endParaRPr lang="en-US" sz="1900" kern="1200" cap="none" dirty="0"/>
        </a:p>
      </dsp:txBody>
      <dsp:txXfrm>
        <a:off x="0" y="0"/>
        <a:ext cx="10515600" cy="1087834"/>
      </dsp:txXfrm>
    </dsp:sp>
    <dsp:sp modelId="{705F2817-90BA-4EE3-82E2-3C096E0BB267}">
      <dsp:nvSpPr>
        <dsp:cNvPr id="0" name=""/>
        <dsp:cNvSpPr/>
      </dsp:nvSpPr>
      <dsp:spPr>
        <a:xfrm>
          <a:off x="0" y="1087834"/>
          <a:ext cx="10515600" cy="0"/>
        </a:xfrm>
        <a:prstGeom prst="lin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6350" cap="flat" cmpd="sng" algn="ctr">
          <a:solidFill>
            <a:schemeClr val="accent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D86A99D4-0D03-4C60-85FA-2F224B006CE9}">
      <dsp:nvSpPr>
        <dsp:cNvPr id="0" name=""/>
        <dsp:cNvSpPr/>
      </dsp:nvSpPr>
      <dsp:spPr>
        <a:xfrm>
          <a:off x="0" y="1087834"/>
          <a:ext cx="10515600" cy="10878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defRPr cap="all"/>
          </a:pPr>
          <a:r>
            <a:rPr lang="en-CA" sz="1900" kern="1200" cap="none" dirty="0"/>
            <a:t>Should we make our entire application hardware specific, as the trade off between the accuracy and speed is clearly dictated by the configuration of hardware?</a:t>
          </a:r>
        </a:p>
        <a:p>
          <a:pPr marL="0" lvl="0" indent="0" algn="l" defTabSz="844550">
            <a:lnSpc>
              <a:spcPct val="90000"/>
            </a:lnSpc>
            <a:spcBef>
              <a:spcPct val="0"/>
            </a:spcBef>
            <a:spcAft>
              <a:spcPct val="35000"/>
            </a:spcAft>
            <a:buNone/>
            <a:defRPr cap="all"/>
          </a:pPr>
          <a:endParaRPr lang="en-US" sz="1900" kern="1200" cap="none" dirty="0"/>
        </a:p>
      </dsp:txBody>
      <dsp:txXfrm>
        <a:off x="0" y="1087834"/>
        <a:ext cx="10515600" cy="1087834"/>
      </dsp:txXfrm>
    </dsp:sp>
    <dsp:sp modelId="{B35C5DCE-07CF-4EB5-AEB3-3FD2C8303AFB}">
      <dsp:nvSpPr>
        <dsp:cNvPr id="0" name=""/>
        <dsp:cNvSpPr/>
      </dsp:nvSpPr>
      <dsp:spPr>
        <a:xfrm>
          <a:off x="0" y="2175669"/>
          <a:ext cx="10515600" cy="0"/>
        </a:xfrm>
        <a:prstGeom prst="lin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6350" cap="flat" cmpd="sng" algn="ctr">
          <a:solidFill>
            <a:schemeClr val="accent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BBE836B2-6969-4723-A639-8648FE4957D3}">
      <dsp:nvSpPr>
        <dsp:cNvPr id="0" name=""/>
        <dsp:cNvSpPr/>
      </dsp:nvSpPr>
      <dsp:spPr>
        <a:xfrm>
          <a:off x="0" y="2175669"/>
          <a:ext cx="10515600" cy="10878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defRPr cap="all"/>
          </a:pPr>
          <a:r>
            <a:rPr lang="en-CA" sz="1900" kern="1200" cap="none" dirty="0"/>
            <a:t>Suggestions on further optimizations of the models.</a:t>
          </a:r>
          <a:endParaRPr lang="en-US" sz="1900" kern="1200" cap="none" dirty="0"/>
        </a:p>
      </dsp:txBody>
      <dsp:txXfrm>
        <a:off x="0" y="2175669"/>
        <a:ext cx="10515600" cy="1087834"/>
      </dsp:txXfrm>
    </dsp:sp>
    <dsp:sp modelId="{2966EFB2-35B5-4838-8120-6DD2ECBE0AAC}">
      <dsp:nvSpPr>
        <dsp:cNvPr id="0" name=""/>
        <dsp:cNvSpPr/>
      </dsp:nvSpPr>
      <dsp:spPr>
        <a:xfrm>
          <a:off x="0" y="3263503"/>
          <a:ext cx="10515600" cy="0"/>
        </a:xfrm>
        <a:prstGeom prst="lin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6350" cap="flat" cmpd="sng" algn="ctr">
          <a:solidFill>
            <a:schemeClr val="accent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A6902941-2F55-465A-81E1-4849BB0232A0}">
      <dsp:nvSpPr>
        <dsp:cNvPr id="0" name=""/>
        <dsp:cNvSpPr/>
      </dsp:nvSpPr>
      <dsp:spPr>
        <a:xfrm>
          <a:off x="0" y="3263503"/>
          <a:ext cx="10515600" cy="10878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defRPr cap="all"/>
          </a:pPr>
          <a:r>
            <a:rPr lang="en-IN" sz="1900" kern="1200" cap="none" dirty="0"/>
            <a:t>Does it make sense to train the model(on crosswalk specific dataset) to enhance the detection capability for existing “person” class to reduce false negatives? [As model is already detecting person in the frame]</a:t>
          </a:r>
          <a:endParaRPr lang="en-US" sz="1900" kern="1200" cap="none" dirty="0"/>
        </a:p>
      </dsp:txBody>
      <dsp:txXfrm>
        <a:off x="0" y="3263503"/>
        <a:ext cx="10515600" cy="1087834"/>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A11B8B-E95F-4CC3-89BD-58BA310E814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446E72FA-9E9B-48F8-A8D6-66B8C14CF1D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E15FB6C1-45CE-46D6-B756-C64D768E3F3A}"/>
              </a:ext>
            </a:extLst>
          </p:cNvPr>
          <p:cNvSpPr>
            <a:spLocks noGrp="1"/>
          </p:cNvSpPr>
          <p:nvPr>
            <p:ph type="dt" sz="half" idx="10"/>
          </p:nvPr>
        </p:nvSpPr>
        <p:spPr/>
        <p:txBody>
          <a:bodyPr/>
          <a:lstStyle/>
          <a:p>
            <a:fld id="{86087772-FA54-43E6-B344-7FFA96A63396}" type="datetimeFigureOut">
              <a:rPr lang="en-CA" smtClean="0"/>
              <a:t>2020-05-27</a:t>
            </a:fld>
            <a:endParaRPr lang="en-CA"/>
          </a:p>
        </p:txBody>
      </p:sp>
      <p:sp>
        <p:nvSpPr>
          <p:cNvPr id="5" name="Footer Placeholder 4">
            <a:extLst>
              <a:ext uri="{FF2B5EF4-FFF2-40B4-BE49-F238E27FC236}">
                <a16:creationId xmlns:a16="http://schemas.microsoft.com/office/drawing/2014/main" id="{584EECF3-C583-425A-A265-56C371E03468}"/>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1D035E54-230D-44A4-A5A5-FE47F87EE7D4}"/>
              </a:ext>
            </a:extLst>
          </p:cNvPr>
          <p:cNvSpPr>
            <a:spLocks noGrp="1"/>
          </p:cNvSpPr>
          <p:nvPr>
            <p:ph type="sldNum" sz="quarter" idx="12"/>
          </p:nvPr>
        </p:nvSpPr>
        <p:spPr/>
        <p:txBody>
          <a:bodyPr/>
          <a:lstStyle/>
          <a:p>
            <a:fld id="{C6ED475A-166D-4349-92F6-30907AFEBB95}" type="slidenum">
              <a:rPr lang="en-CA" smtClean="0"/>
              <a:t>‹#›</a:t>
            </a:fld>
            <a:endParaRPr lang="en-CA"/>
          </a:p>
        </p:txBody>
      </p:sp>
    </p:spTree>
    <p:extLst>
      <p:ext uri="{BB962C8B-B14F-4D97-AF65-F5344CB8AC3E}">
        <p14:creationId xmlns:p14="http://schemas.microsoft.com/office/powerpoint/2010/main" val="10740769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3BC3B-0E7E-456E-AE8D-B5DEF2824E0B}"/>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009EFF2F-B369-4A8F-B15D-B64968AE692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FE635AB2-A15B-4581-9445-7C9B4FD325B7}"/>
              </a:ext>
            </a:extLst>
          </p:cNvPr>
          <p:cNvSpPr>
            <a:spLocks noGrp="1"/>
          </p:cNvSpPr>
          <p:nvPr>
            <p:ph type="dt" sz="half" idx="10"/>
          </p:nvPr>
        </p:nvSpPr>
        <p:spPr/>
        <p:txBody>
          <a:bodyPr/>
          <a:lstStyle/>
          <a:p>
            <a:fld id="{86087772-FA54-43E6-B344-7FFA96A63396}" type="datetimeFigureOut">
              <a:rPr lang="en-CA" smtClean="0"/>
              <a:t>2020-05-27</a:t>
            </a:fld>
            <a:endParaRPr lang="en-CA"/>
          </a:p>
        </p:txBody>
      </p:sp>
      <p:sp>
        <p:nvSpPr>
          <p:cNvPr id="5" name="Footer Placeholder 4">
            <a:extLst>
              <a:ext uri="{FF2B5EF4-FFF2-40B4-BE49-F238E27FC236}">
                <a16:creationId xmlns:a16="http://schemas.microsoft.com/office/drawing/2014/main" id="{90502374-C3B3-4DC0-889A-4541935D0CA9}"/>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C788322C-E95F-43A8-8145-759131668802}"/>
              </a:ext>
            </a:extLst>
          </p:cNvPr>
          <p:cNvSpPr>
            <a:spLocks noGrp="1"/>
          </p:cNvSpPr>
          <p:nvPr>
            <p:ph type="sldNum" sz="quarter" idx="12"/>
          </p:nvPr>
        </p:nvSpPr>
        <p:spPr/>
        <p:txBody>
          <a:bodyPr/>
          <a:lstStyle/>
          <a:p>
            <a:fld id="{C6ED475A-166D-4349-92F6-30907AFEBB95}" type="slidenum">
              <a:rPr lang="en-CA" smtClean="0"/>
              <a:t>‹#›</a:t>
            </a:fld>
            <a:endParaRPr lang="en-CA"/>
          </a:p>
        </p:txBody>
      </p:sp>
    </p:spTree>
    <p:extLst>
      <p:ext uri="{BB962C8B-B14F-4D97-AF65-F5344CB8AC3E}">
        <p14:creationId xmlns:p14="http://schemas.microsoft.com/office/powerpoint/2010/main" val="17288842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B8DB72-6D9B-4E4F-87A3-9C0D1FC3E9C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D7CD8FFE-E6C5-4464-A49C-62E2EEB7F63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8D98C60-06F8-45CB-B67E-67ED47A0C6DB}"/>
              </a:ext>
            </a:extLst>
          </p:cNvPr>
          <p:cNvSpPr>
            <a:spLocks noGrp="1"/>
          </p:cNvSpPr>
          <p:nvPr>
            <p:ph type="dt" sz="half" idx="10"/>
          </p:nvPr>
        </p:nvSpPr>
        <p:spPr/>
        <p:txBody>
          <a:bodyPr/>
          <a:lstStyle/>
          <a:p>
            <a:fld id="{86087772-FA54-43E6-B344-7FFA96A63396}" type="datetimeFigureOut">
              <a:rPr lang="en-CA" smtClean="0"/>
              <a:t>2020-05-27</a:t>
            </a:fld>
            <a:endParaRPr lang="en-CA"/>
          </a:p>
        </p:txBody>
      </p:sp>
      <p:sp>
        <p:nvSpPr>
          <p:cNvPr id="5" name="Footer Placeholder 4">
            <a:extLst>
              <a:ext uri="{FF2B5EF4-FFF2-40B4-BE49-F238E27FC236}">
                <a16:creationId xmlns:a16="http://schemas.microsoft.com/office/drawing/2014/main" id="{0B994166-EDD3-4437-A61E-7028B4ECE32D}"/>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AD163D39-A6CC-443C-A5AE-E59C8C584477}"/>
              </a:ext>
            </a:extLst>
          </p:cNvPr>
          <p:cNvSpPr>
            <a:spLocks noGrp="1"/>
          </p:cNvSpPr>
          <p:nvPr>
            <p:ph type="sldNum" sz="quarter" idx="12"/>
          </p:nvPr>
        </p:nvSpPr>
        <p:spPr/>
        <p:txBody>
          <a:bodyPr/>
          <a:lstStyle/>
          <a:p>
            <a:fld id="{C6ED475A-166D-4349-92F6-30907AFEBB95}" type="slidenum">
              <a:rPr lang="en-CA" smtClean="0"/>
              <a:t>‹#›</a:t>
            </a:fld>
            <a:endParaRPr lang="en-CA"/>
          </a:p>
        </p:txBody>
      </p:sp>
    </p:spTree>
    <p:extLst>
      <p:ext uri="{BB962C8B-B14F-4D97-AF65-F5344CB8AC3E}">
        <p14:creationId xmlns:p14="http://schemas.microsoft.com/office/powerpoint/2010/main" val="42459309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A27263-AFE8-4F46-ADE5-527059303814}"/>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045253D6-BC4D-4E51-A0B7-51487FE44C7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2A91A830-3996-4AEB-9DBC-C61E7851B4E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459AF0FD-57C4-4044-B1B8-83AF51F23428}"/>
              </a:ext>
            </a:extLst>
          </p:cNvPr>
          <p:cNvSpPr>
            <a:spLocks noGrp="1"/>
          </p:cNvSpPr>
          <p:nvPr>
            <p:ph type="dt" sz="half" idx="10"/>
          </p:nvPr>
        </p:nvSpPr>
        <p:spPr/>
        <p:txBody>
          <a:bodyPr/>
          <a:lstStyle/>
          <a:p>
            <a:fld id="{86087772-FA54-43E6-B344-7FFA96A63396}" type="datetimeFigureOut">
              <a:rPr lang="en-CA" smtClean="0"/>
              <a:t>2020-05-27</a:t>
            </a:fld>
            <a:endParaRPr lang="en-CA"/>
          </a:p>
        </p:txBody>
      </p:sp>
      <p:sp>
        <p:nvSpPr>
          <p:cNvPr id="6" name="Footer Placeholder 5">
            <a:extLst>
              <a:ext uri="{FF2B5EF4-FFF2-40B4-BE49-F238E27FC236}">
                <a16:creationId xmlns:a16="http://schemas.microsoft.com/office/drawing/2014/main" id="{36B12519-8F33-4B51-8669-A614B43D2EA5}"/>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05051F2C-885B-47F0-9FDC-9F9D9BC382E5}"/>
              </a:ext>
            </a:extLst>
          </p:cNvPr>
          <p:cNvSpPr>
            <a:spLocks noGrp="1"/>
          </p:cNvSpPr>
          <p:nvPr>
            <p:ph type="sldNum" sz="quarter" idx="12"/>
          </p:nvPr>
        </p:nvSpPr>
        <p:spPr/>
        <p:txBody>
          <a:bodyPr/>
          <a:lstStyle/>
          <a:p>
            <a:fld id="{C6ED475A-166D-4349-92F6-30907AFEBB95}" type="slidenum">
              <a:rPr lang="en-CA" smtClean="0"/>
              <a:t>‹#›</a:t>
            </a:fld>
            <a:endParaRPr lang="en-CA"/>
          </a:p>
        </p:txBody>
      </p:sp>
    </p:spTree>
    <p:extLst>
      <p:ext uri="{BB962C8B-B14F-4D97-AF65-F5344CB8AC3E}">
        <p14:creationId xmlns:p14="http://schemas.microsoft.com/office/powerpoint/2010/main" val="9660728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4967F-0AEB-4DDE-8DA3-3E388442F7B7}"/>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B6A5AA2A-72B4-40BB-95C9-E56315CC351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C2878AE-06E8-4DEB-99CC-F5F83F3867F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9182FBFE-58E4-4E90-BF5C-4C7B4E4ECB6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5460BC8-D292-416A-942E-A6AE08B673C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1A9F0D1C-A2DE-41E0-8E60-F790F2B260D2}"/>
              </a:ext>
            </a:extLst>
          </p:cNvPr>
          <p:cNvSpPr>
            <a:spLocks noGrp="1"/>
          </p:cNvSpPr>
          <p:nvPr>
            <p:ph type="dt" sz="half" idx="10"/>
          </p:nvPr>
        </p:nvSpPr>
        <p:spPr/>
        <p:txBody>
          <a:bodyPr/>
          <a:lstStyle/>
          <a:p>
            <a:fld id="{86087772-FA54-43E6-B344-7FFA96A63396}" type="datetimeFigureOut">
              <a:rPr lang="en-CA" smtClean="0"/>
              <a:t>2020-05-27</a:t>
            </a:fld>
            <a:endParaRPr lang="en-CA"/>
          </a:p>
        </p:txBody>
      </p:sp>
      <p:sp>
        <p:nvSpPr>
          <p:cNvPr id="8" name="Footer Placeholder 7">
            <a:extLst>
              <a:ext uri="{FF2B5EF4-FFF2-40B4-BE49-F238E27FC236}">
                <a16:creationId xmlns:a16="http://schemas.microsoft.com/office/drawing/2014/main" id="{15E9C315-C1E3-42B3-B94C-564352D70C13}"/>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E462DEA0-8F50-47EF-8C8C-8094955E3B74}"/>
              </a:ext>
            </a:extLst>
          </p:cNvPr>
          <p:cNvSpPr>
            <a:spLocks noGrp="1"/>
          </p:cNvSpPr>
          <p:nvPr>
            <p:ph type="sldNum" sz="quarter" idx="12"/>
          </p:nvPr>
        </p:nvSpPr>
        <p:spPr/>
        <p:txBody>
          <a:bodyPr/>
          <a:lstStyle/>
          <a:p>
            <a:fld id="{C6ED475A-166D-4349-92F6-30907AFEBB95}" type="slidenum">
              <a:rPr lang="en-CA" smtClean="0"/>
              <a:t>‹#›</a:t>
            </a:fld>
            <a:endParaRPr lang="en-CA"/>
          </a:p>
        </p:txBody>
      </p:sp>
    </p:spTree>
    <p:extLst>
      <p:ext uri="{BB962C8B-B14F-4D97-AF65-F5344CB8AC3E}">
        <p14:creationId xmlns:p14="http://schemas.microsoft.com/office/powerpoint/2010/main" val="27119802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06C3F-708A-43A5-AF8A-114775D63430}"/>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806BE8EA-C59B-4E24-B670-250ECA7C99E9}"/>
              </a:ext>
            </a:extLst>
          </p:cNvPr>
          <p:cNvSpPr>
            <a:spLocks noGrp="1"/>
          </p:cNvSpPr>
          <p:nvPr>
            <p:ph type="dt" sz="half" idx="10"/>
          </p:nvPr>
        </p:nvSpPr>
        <p:spPr/>
        <p:txBody>
          <a:bodyPr/>
          <a:lstStyle/>
          <a:p>
            <a:fld id="{86087772-FA54-43E6-B344-7FFA96A63396}" type="datetimeFigureOut">
              <a:rPr lang="en-CA" smtClean="0"/>
              <a:t>2020-05-27</a:t>
            </a:fld>
            <a:endParaRPr lang="en-CA"/>
          </a:p>
        </p:txBody>
      </p:sp>
      <p:sp>
        <p:nvSpPr>
          <p:cNvPr id="4" name="Footer Placeholder 3">
            <a:extLst>
              <a:ext uri="{FF2B5EF4-FFF2-40B4-BE49-F238E27FC236}">
                <a16:creationId xmlns:a16="http://schemas.microsoft.com/office/drawing/2014/main" id="{FB204DD2-282D-420A-89C4-41EF11E2D342}"/>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47E44F5D-053F-4834-B3AA-E4835A1B1C66}"/>
              </a:ext>
            </a:extLst>
          </p:cNvPr>
          <p:cNvSpPr>
            <a:spLocks noGrp="1"/>
          </p:cNvSpPr>
          <p:nvPr>
            <p:ph type="sldNum" sz="quarter" idx="12"/>
          </p:nvPr>
        </p:nvSpPr>
        <p:spPr/>
        <p:txBody>
          <a:bodyPr/>
          <a:lstStyle/>
          <a:p>
            <a:fld id="{C6ED475A-166D-4349-92F6-30907AFEBB95}" type="slidenum">
              <a:rPr lang="en-CA" smtClean="0"/>
              <a:t>‹#›</a:t>
            </a:fld>
            <a:endParaRPr lang="en-CA"/>
          </a:p>
        </p:txBody>
      </p:sp>
    </p:spTree>
    <p:extLst>
      <p:ext uri="{BB962C8B-B14F-4D97-AF65-F5344CB8AC3E}">
        <p14:creationId xmlns:p14="http://schemas.microsoft.com/office/powerpoint/2010/main" val="41863386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4B2685D-E6A9-4715-A66B-C87D96459E8E}"/>
              </a:ext>
            </a:extLst>
          </p:cNvPr>
          <p:cNvSpPr>
            <a:spLocks noGrp="1"/>
          </p:cNvSpPr>
          <p:nvPr>
            <p:ph type="dt" sz="half" idx="10"/>
          </p:nvPr>
        </p:nvSpPr>
        <p:spPr/>
        <p:txBody>
          <a:bodyPr/>
          <a:lstStyle/>
          <a:p>
            <a:fld id="{86087772-FA54-43E6-B344-7FFA96A63396}" type="datetimeFigureOut">
              <a:rPr lang="en-CA" smtClean="0"/>
              <a:t>2020-05-27</a:t>
            </a:fld>
            <a:endParaRPr lang="en-CA"/>
          </a:p>
        </p:txBody>
      </p:sp>
      <p:sp>
        <p:nvSpPr>
          <p:cNvPr id="3" name="Footer Placeholder 2">
            <a:extLst>
              <a:ext uri="{FF2B5EF4-FFF2-40B4-BE49-F238E27FC236}">
                <a16:creationId xmlns:a16="http://schemas.microsoft.com/office/drawing/2014/main" id="{F599B6DE-0B0B-45C3-AF86-D65D430B96ED}"/>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D4AB1018-72BF-4ED0-B201-739BAEE7F019}"/>
              </a:ext>
            </a:extLst>
          </p:cNvPr>
          <p:cNvSpPr>
            <a:spLocks noGrp="1"/>
          </p:cNvSpPr>
          <p:nvPr>
            <p:ph type="sldNum" sz="quarter" idx="12"/>
          </p:nvPr>
        </p:nvSpPr>
        <p:spPr/>
        <p:txBody>
          <a:bodyPr/>
          <a:lstStyle/>
          <a:p>
            <a:fld id="{C6ED475A-166D-4349-92F6-30907AFEBB95}" type="slidenum">
              <a:rPr lang="en-CA" smtClean="0"/>
              <a:t>‹#›</a:t>
            </a:fld>
            <a:endParaRPr lang="en-CA"/>
          </a:p>
        </p:txBody>
      </p:sp>
    </p:spTree>
    <p:extLst>
      <p:ext uri="{BB962C8B-B14F-4D97-AF65-F5344CB8AC3E}">
        <p14:creationId xmlns:p14="http://schemas.microsoft.com/office/powerpoint/2010/main" val="32484081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3842AC-887F-4BEA-8D9A-525A0EC231F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62FF6A1E-43FB-4066-AAB6-4C84FDC04D4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40A1E596-D5CD-44C5-A624-7938138DA1F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36A237-5F6C-46FC-9D5B-DCE7FCEA78C8}"/>
              </a:ext>
            </a:extLst>
          </p:cNvPr>
          <p:cNvSpPr>
            <a:spLocks noGrp="1"/>
          </p:cNvSpPr>
          <p:nvPr>
            <p:ph type="dt" sz="half" idx="10"/>
          </p:nvPr>
        </p:nvSpPr>
        <p:spPr/>
        <p:txBody>
          <a:bodyPr/>
          <a:lstStyle/>
          <a:p>
            <a:fld id="{86087772-FA54-43E6-B344-7FFA96A63396}" type="datetimeFigureOut">
              <a:rPr lang="en-CA" smtClean="0"/>
              <a:t>2020-05-27</a:t>
            </a:fld>
            <a:endParaRPr lang="en-CA"/>
          </a:p>
        </p:txBody>
      </p:sp>
      <p:sp>
        <p:nvSpPr>
          <p:cNvPr id="6" name="Footer Placeholder 5">
            <a:extLst>
              <a:ext uri="{FF2B5EF4-FFF2-40B4-BE49-F238E27FC236}">
                <a16:creationId xmlns:a16="http://schemas.microsoft.com/office/drawing/2014/main" id="{B2860364-D993-473F-ADA1-787F7E7E2E85}"/>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9B4AA4A8-608A-4C90-A111-4C22A19A5075}"/>
              </a:ext>
            </a:extLst>
          </p:cNvPr>
          <p:cNvSpPr>
            <a:spLocks noGrp="1"/>
          </p:cNvSpPr>
          <p:nvPr>
            <p:ph type="sldNum" sz="quarter" idx="12"/>
          </p:nvPr>
        </p:nvSpPr>
        <p:spPr/>
        <p:txBody>
          <a:bodyPr/>
          <a:lstStyle/>
          <a:p>
            <a:fld id="{C6ED475A-166D-4349-92F6-30907AFEBB95}" type="slidenum">
              <a:rPr lang="en-CA" smtClean="0"/>
              <a:t>‹#›</a:t>
            </a:fld>
            <a:endParaRPr lang="en-CA"/>
          </a:p>
        </p:txBody>
      </p:sp>
    </p:spTree>
    <p:extLst>
      <p:ext uri="{BB962C8B-B14F-4D97-AF65-F5344CB8AC3E}">
        <p14:creationId xmlns:p14="http://schemas.microsoft.com/office/powerpoint/2010/main" val="35190160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841593-BEFD-43A6-9576-B402CA04A3D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AEA0C4E3-A643-4D92-B64F-130C9D6E823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FFAD3405-977E-4ACE-9624-70C66A45866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0891DA-50BE-4586-81FF-A96D91202726}"/>
              </a:ext>
            </a:extLst>
          </p:cNvPr>
          <p:cNvSpPr>
            <a:spLocks noGrp="1"/>
          </p:cNvSpPr>
          <p:nvPr>
            <p:ph type="dt" sz="half" idx="10"/>
          </p:nvPr>
        </p:nvSpPr>
        <p:spPr/>
        <p:txBody>
          <a:bodyPr/>
          <a:lstStyle/>
          <a:p>
            <a:fld id="{86087772-FA54-43E6-B344-7FFA96A63396}" type="datetimeFigureOut">
              <a:rPr lang="en-CA" smtClean="0"/>
              <a:t>2020-05-27</a:t>
            </a:fld>
            <a:endParaRPr lang="en-CA"/>
          </a:p>
        </p:txBody>
      </p:sp>
      <p:sp>
        <p:nvSpPr>
          <p:cNvPr id="6" name="Footer Placeholder 5">
            <a:extLst>
              <a:ext uri="{FF2B5EF4-FFF2-40B4-BE49-F238E27FC236}">
                <a16:creationId xmlns:a16="http://schemas.microsoft.com/office/drawing/2014/main" id="{E91ED179-4CE7-45E9-B944-6FE7C8DEA9C7}"/>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038EB8F1-9854-4180-A1E4-EC511CEB7229}"/>
              </a:ext>
            </a:extLst>
          </p:cNvPr>
          <p:cNvSpPr>
            <a:spLocks noGrp="1"/>
          </p:cNvSpPr>
          <p:nvPr>
            <p:ph type="sldNum" sz="quarter" idx="12"/>
          </p:nvPr>
        </p:nvSpPr>
        <p:spPr/>
        <p:txBody>
          <a:bodyPr/>
          <a:lstStyle/>
          <a:p>
            <a:fld id="{C6ED475A-166D-4349-92F6-30907AFEBB95}" type="slidenum">
              <a:rPr lang="en-CA" smtClean="0"/>
              <a:t>‹#›</a:t>
            </a:fld>
            <a:endParaRPr lang="en-CA"/>
          </a:p>
        </p:txBody>
      </p:sp>
    </p:spTree>
    <p:extLst>
      <p:ext uri="{BB962C8B-B14F-4D97-AF65-F5344CB8AC3E}">
        <p14:creationId xmlns:p14="http://schemas.microsoft.com/office/powerpoint/2010/main" val="22421021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3666EA-282E-4FE3-A0E5-3CADE8E0D3C1}"/>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76B47842-B48A-4D2D-B390-DE42E07A35B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C890E84F-30A6-47BC-A60B-8AC3F51EB8C6}"/>
              </a:ext>
            </a:extLst>
          </p:cNvPr>
          <p:cNvSpPr>
            <a:spLocks noGrp="1"/>
          </p:cNvSpPr>
          <p:nvPr>
            <p:ph type="dt" sz="half" idx="10"/>
          </p:nvPr>
        </p:nvSpPr>
        <p:spPr/>
        <p:txBody>
          <a:bodyPr/>
          <a:lstStyle/>
          <a:p>
            <a:fld id="{86087772-FA54-43E6-B344-7FFA96A63396}" type="datetimeFigureOut">
              <a:rPr lang="en-CA" smtClean="0"/>
              <a:t>2020-05-27</a:t>
            </a:fld>
            <a:endParaRPr lang="en-CA"/>
          </a:p>
        </p:txBody>
      </p:sp>
      <p:sp>
        <p:nvSpPr>
          <p:cNvPr id="5" name="Footer Placeholder 4">
            <a:extLst>
              <a:ext uri="{FF2B5EF4-FFF2-40B4-BE49-F238E27FC236}">
                <a16:creationId xmlns:a16="http://schemas.microsoft.com/office/drawing/2014/main" id="{CFDE5E8C-A6E4-4FD5-BEF9-A337A08768D7}"/>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19489BF4-DA2E-4CBA-B63B-DFBD274B001F}"/>
              </a:ext>
            </a:extLst>
          </p:cNvPr>
          <p:cNvSpPr>
            <a:spLocks noGrp="1"/>
          </p:cNvSpPr>
          <p:nvPr>
            <p:ph type="sldNum" sz="quarter" idx="12"/>
          </p:nvPr>
        </p:nvSpPr>
        <p:spPr/>
        <p:txBody>
          <a:bodyPr/>
          <a:lstStyle/>
          <a:p>
            <a:fld id="{C6ED475A-166D-4349-92F6-30907AFEBB95}" type="slidenum">
              <a:rPr lang="en-CA" smtClean="0"/>
              <a:t>‹#›</a:t>
            </a:fld>
            <a:endParaRPr lang="en-CA"/>
          </a:p>
        </p:txBody>
      </p:sp>
    </p:spTree>
    <p:extLst>
      <p:ext uri="{BB962C8B-B14F-4D97-AF65-F5344CB8AC3E}">
        <p14:creationId xmlns:p14="http://schemas.microsoft.com/office/powerpoint/2010/main" val="36363134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4597ACA-E491-4767-9EB3-309F9E6C585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EF4E45F0-5678-4761-B737-170248F541E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0E7199D6-A0B1-47DB-800D-480672201708}"/>
              </a:ext>
            </a:extLst>
          </p:cNvPr>
          <p:cNvSpPr>
            <a:spLocks noGrp="1"/>
          </p:cNvSpPr>
          <p:nvPr>
            <p:ph type="dt" sz="half" idx="10"/>
          </p:nvPr>
        </p:nvSpPr>
        <p:spPr/>
        <p:txBody>
          <a:bodyPr/>
          <a:lstStyle/>
          <a:p>
            <a:fld id="{86087772-FA54-43E6-B344-7FFA96A63396}" type="datetimeFigureOut">
              <a:rPr lang="en-CA" smtClean="0"/>
              <a:t>2020-05-27</a:t>
            </a:fld>
            <a:endParaRPr lang="en-CA"/>
          </a:p>
        </p:txBody>
      </p:sp>
      <p:sp>
        <p:nvSpPr>
          <p:cNvPr id="5" name="Footer Placeholder 4">
            <a:extLst>
              <a:ext uri="{FF2B5EF4-FFF2-40B4-BE49-F238E27FC236}">
                <a16:creationId xmlns:a16="http://schemas.microsoft.com/office/drawing/2014/main" id="{EBB66F32-FC63-49EA-B5C6-C9D4AD9E1243}"/>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3A42291C-B5A6-4C03-8BFD-6F32640BB0F9}"/>
              </a:ext>
            </a:extLst>
          </p:cNvPr>
          <p:cNvSpPr>
            <a:spLocks noGrp="1"/>
          </p:cNvSpPr>
          <p:nvPr>
            <p:ph type="sldNum" sz="quarter" idx="12"/>
          </p:nvPr>
        </p:nvSpPr>
        <p:spPr/>
        <p:txBody>
          <a:bodyPr/>
          <a:lstStyle/>
          <a:p>
            <a:fld id="{C6ED475A-166D-4349-92F6-30907AFEBB95}" type="slidenum">
              <a:rPr lang="en-CA" smtClean="0"/>
              <a:t>‹#›</a:t>
            </a:fld>
            <a:endParaRPr lang="en-CA"/>
          </a:p>
        </p:txBody>
      </p:sp>
    </p:spTree>
    <p:extLst>
      <p:ext uri="{BB962C8B-B14F-4D97-AF65-F5344CB8AC3E}">
        <p14:creationId xmlns:p14="http://schemas.microsoft.com/office/powerpoint/2010/main" val="17722186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2D27D83-338B-4F10-8669-276C03A674E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627D2CA5-8569-4CDB-9FA7-01EF8B2ACE8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6FD0B2A1-5521-44D4-91D2-021E2BE909F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6087772-FA54-43E6-B344-7FFA96A63396}" type="datetimeFigureOut">
              <a:rPr lang="en-CA" smtClean="0"/>
              <a:t>2020-05-27</a:t>
            </a:fld>
            <a:endParaRPr lang="en-CA"/>
          </a:p>
        </p:txBody>
      </p:sp>
      <p:sp>
        <p:nvSpPr>
          <p:cNvPr id="5" name="Footer Placeholder 4">
            <a:extLst>
              <a:ext uri="{FF2B5EF4-FFF2-40B4-BE49-F238E27FC236}">
                <a16:creationId xmlns:a16="http://schemas.microsoft.com/office/drawing/2014/main" id="{BDCD094F-5D1D-4D6C-B991-86902E26756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CA"/>
          </a:p>
        </p:txBody>
      </p:sp>
      <p:sp>
        <p:nvSpPr>
          <p:cNvPr id="6" name="Slide Number Placeholder 5">
            <a:extLst>
              <a:ext uri="{FF2B5EF4-FFF2-40B4-BE49-F238E27FC236}">
                <a16:creationId xmlns:a16="http://schemas.microsoft.com/office/drawing/2014/main" id="{3CAA5E98-31FE-429B-A331-7F389131EDB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6ED475A-166D-4349-92F6-30907AFEBB95}" type="slidenum">
              <a:rPr lang="en-CA" smtClean="0"/>
              <a:t>‹#›</a:t>
            </a:fld>
            <a:endParaRPr lang="en-CA"/>
          </a:p>
        </p:txBody>
      </p:sp>
    </p:spTree>
    <p:extLst>
      <p:ext uri="{BB962C8B-B14F-4D97-AF65-F5344CB8AC3E}">
        <p14:creationId xmlns:p14="http://schemas.microsoft.com/office/powerpoint/2010/main" val="6490597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Google Shape;191;p23">
            <a:extLst>
              <a:ext uri="{FF2B5EF4-FFF2-40B4-BE49-F238E27FC236}">
                <a16:creationId xmlns:a16="http://schemas.microsoft.com/office/drawing/2014/main" id="{3E06EB87-E05A-44C8-A212-8E096F1FAA6E}"/>
              </a:ext>
            </a:extLst>
          </p:cNvPr>
          <p:cNvSpPr/>
          <p:nvPr/>
        </p:nvSpPr>
        <p:spPr>
          <a:xfrm>
            <a:off x="-10951" y="-76656"/>
            <a:ext cx="4739148" cy="6858000"/>
          </a:xfrm>
          <a:prstGeom prst="rect">
            <a:avLst/>
          </a:prstGeom>
          <a:solidFill>
            <a:schemeClr val="tx1">
              <a:lumMod val="75000"/>
              <a:lumOff val="2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 name="Title 1">
            <a:extLst>
              <a:ext uri="{FF2B5EF4-FFF2-40B4-BE49-F238E27FC236}">
                <a16:creationId xmlns:a16="http://schemas.microsoft.com/office/drawing/2014/main" id="{431E4C8D-7EC8-47FF-A013-C5840358796B}"/>
              </a:ext>
            </a:extLst>
          </p:cNvPr>
          <p:cNvSpPr>
            <a:spLocks noGrp="1"/>
          </p:cNvSpPr>
          <p:nvPr>
            <p:ph type="ctrTitle"/>
          </p:nvPr>
        </p:nvSpPr>
        <p:spPr>
          <a:xfrm>
            <a:off x="225023" y="318992"/>
            <a:ext cx="4267200" cy="590931"/>
          </a:xfrm>
          <a:prstGeom prst="rect">
            <a:avLst/>
          </a:prstGeom>
        </p:spPr>
        <p:txBody>
          <a:bodyPr vert="horz" wrap="square" lIns="182880" tIns="45720" rIns="182880" bIns="45720" rtlCol="0" anchor="ctr">
            <a:spAutoFit/>
          </a:bodyPr>
          <a:lstStyle/>
          <a:p>
            <a:r>
              <a:rPr lang="en-US" sz="1800" b="0" i="1" kern="1200" dirty="0">
                <a:solidFill>
                  <a:srgbClr val="FFFFFF"/>
                </a:solidFill>
              </a:rPr>
              <a:t>A Real-Time Pedestrian Detection and Tracking System for Intelligent Vehicles</a:t>
            </a:r>
            <a:endParaRPr lang="en-US" sz="2400" kern="1200" dirty="0">
              <a:solidFill>
                <a:srgbClr val="FFFFFF"/>
              </a:solidFill>
            </a:endParaRPr>
          </a:p>
        </p:txBody>
      </p:sp>
      <p:pic>
        <p:nvPicPr>
          <p:cNvPr id="7" name="Picture 6" descr="A close up of a sign&#10;&#10;Description automatically generated">
            <a:extLst>
              <a:ext uri="{FF2B5EF4-FFF2-40B4-BE49-F238E27FC236}">
                <a16:creationId xmlns:a16="http://schemas.microsoft.com/office/drawing/2014/main" id="{EAA159C5-C9CB-463D-8117-17B35E7C73F6}"/>
              </a:ext>
            </a:extLst>
          </p:cNvPr>
          <p:cNvPicPr>
            <a:picLocks noChangeAspect="1"/>
          </p:cNvPicPr>
          <p:nvPr/>
        </p:nvPicPr>
        <p:blipFill rotWithShape="1">
          <a:blip r:embed="rId2">
            <a:extLst>
              <a:ext uri="{28A0092B-C50C-407E-A947-70E740481C1C}">
                <a14:useLocalDpi xmlns:a14="http://schemas.microsoft.com/office/drawing/2010/main" val="0"/>
              </a:ext>
            </a:extLst>
          </a:blip>
          <a:srcRect t="1242" r="2" b="2"/>
          <a:stretch/>
        </p:blipFill>
        <p:spPr>
          <a:xfrm>
            <a:off x="5847720" y="492573"/>
            <a:ext cx="5165749" cy="5880796"/>
          </a:xfrm>
          <a:prstGeom prst="rect">
            <a:avLst/>
          </a:prstGeom>
        </p:spPr>
      </p:pic>
      <p:sp>
        <p:nvSpPr>
          <p:cNvPr id="5" name="Title 1">
            <a:extLst>
              <a:ext uri="{FF2B5EF4-FFF2-40B4-BE49-F238E27FC236}">
                <a16:creationId xmlns:a16="http://schemas.microsoft.com/office/drawing/2014/main" id="{77D55E35-5F64-4066-864B-3B1ED5889383}"/>
              </a:ext>
            </a:extLst>
          </p:cNvPr>
          <p:cNvSpPr txBox="1">
            <a:spLocks/>
          </p:cNvSpPr>
          <p:nvPr/>
        </p:nvSpPr>
        <p:spPr>
          <a:xfrm>
            <a:off x="460997" y="3352344"/>
            <a:ext cx="4267200" cy="424732"/>
          </a:xfrm>
          <a:prstGeom prst="rect">
            <a:avLst/>
          </a:prstGeom>
        </p:spPr>
        <p:txBody>
          <a:bodyPr vert="horz" wrap="square" lIns="182880" tIns="45720" rIns="182880" bIns="45720" rtlCol="0" anchor="ctr">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400" dirty="0">
                <a:solidFill>
                  <a:srgbClr val="FFFFFF"/>
                </a:solidFill>
              </a:rPr>
              <a:t>Module 1: Object  Detection</a:t>
            </a:r>
          </a:p>
        </p:txBody>
      </p:sp>
    </p:spTree>
    <p:extLst>
      <p:ext uri="{BB962C8B-B14F-4D97-AF65-F5344CB8AC3E}">
        <p14:creationId xmlns:p14="http://schemas.microsoft.com/office/powerpoint/2010/main" val="2292312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645F23-11A2-4B22-8E54-97D3A2873535}"/>
              </a:ext>
            </a:extLst>
          </p:cNvPr>
          <p:cNvSpPr>
            <a:spLocks noGrp="1"/>
          </p:cNvSpPr>
          <p:nvPr>
            <p:ph type="title"/>
          </p:nvPr>
        </p:nvSpPr>
        <p:spPr>
          <a:xfrm>
            <a:off x="838200" y="620392"/>
            <a:ext cx="3374136" cy="5504688"/>
          </a:xfrm>
        </p:spPr>
        <p:txBody>
          <a:bodyPr>
            <a:normAutofit/>
          </a:bodyPr>
          <a:lstStyle/>
          <a:p>
            <a:r>
              <a:rPr lang="en-IN"/>
              <a:t>Contents</a:t>
            </a:r>
          </a:p>
        </p:txBody>
      </p:sp>
      <p:graphicFrame>
        <p:nvGraphicFramePr>
          <p:cNvPr id="34" name="Content Placeholder 2">
            <a:extLst>
              <a:ext uri="{FF2B5EF4-FFF2-40B4-BE49-F238E27FC236}">
                <a16:creationId xmlns:a16="http://schemas.microsoft.com/office/drawing/2014/main" id="{D2D65AF7-C40A-40EC-B3AE-9E80D4F4BB8B}"/>
              </a:ext>
            </a:extLst>
          </p:cNvPr>
          <p:cNvGraphicFramePr>
            <a:graphicFrameLocks noGrp="1"/>
          </p:cNvGraphicFramePr>
          <p:nvPr>
            <p:ph idx="1"/>
            <p:extLst>
              <p:ext uri="{D42A27DB-BD31-4B8C-83A1-F6EECF244321}">
                <p14:modId xmlns:p14="http://schemas.microsoft.com/office/powerpoint/2010/main" val="2001513773"/>
              </p:ext>
            </p:extLst>
          </p:nvPr>
        </p:nvGraphicFramePr>
        <p:xfrm>
          <a:off x="5093208" y="620392"/>
          <a:ext cx="6263640" cy="55046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919231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8D70B121-56F4-4848-B38B-182089D909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tx1">
              <a:alpha val="8000"/>
            </a:schemeClr>
          </a:solidFill>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4BA5618-E507-4A68-B262-D4D9A3E91463}"/>
              </a:ext>
            </a:extLst>
          </p:cNvPr>
          <p:cNvSpPr>
            <a:spLocks noGrp="1"/>
          </p:cNvSpPr>
          <p:nvPr>
            <p:ph type="title"/>
          </p:nvPr>
        </p:nvSpPr>
        <p:spPr>
          <a:xfrm>
            <a:off x="447679" y="963877"/>
            <a:ext cx="4011693" cy="4930246"/>
          </a:xfrm>
        </p:spPr>
        <p:txBody>
          <a:bodyPr>
            <a:normAutofit/>
          </a:bodyPr>
          <a:lstStyle/>
          <a:p>
            <a:pPr algn="ctr"/>
            <a:r>
              <a:rPr lang="en-CA" b="1" dirty="0">
                <a:solidFill>
                  <a:schemeClr val="accent1"/>
                </a:solidFill>
              </a:rPr>
              <a:t>Classification</a:t>
            </a:r>
            <a:br>
              <a:rPr lang="en-CA" b="1" dirty="0">
                <a:solidFill>
                  <a:schemeClr val="accent1"/>
                </a:solidFill>
              </a:rPr>
            </a:br>
            <a:r>
              <a:rPr lang="en-CA" b="1" dirty="0">
                <a:solidFill>
                  <a:schemeClr val="accent1"/>
                </a:solidFill>
              </a:rPr>
              <a:t>Vs</a:t>
            </a:r>
            <a:br>
              <a:rPr lang="en-CA" b="1" dirty="0">
                <a:solidFill>
                  <a:schemeClr val="accent1"/>
                </a:solidFill>
              </a:rPr>
            </a:br>
            <a:r>
              <a:rPr lang="en-CA" b="1" dirty="0">
                <a:solidFill>
                  <a:schemeClr val="accent1"/>
                </a:solidFill>
              </a:rPr>
              <a:t>Object Detection</a:t>
            </a:r>
            <a:endParaRPr lang="en-IN" dirty="0">
              <a:solidFill>
                <a:schemeClr val="accent1"/>
              </a:solidFill>
            </a:endParaRPr>
          </a:p>
        </p:txBody>
      </p:sp>
      <p:cxnSp>
        <p:nvCxnSpPr>
          <p:cNvPr id="38" name="Straight Connector 37">
            <a:extLst>
              <a:ext uri="{FF2B5EF4-FFF2-40B4-BE49-F238E27FC236}">
                <a16:creationId xmlns:a16="http://schemas.microsoft.com/office/drawing/2014/main" id="{2D72A2C9-F3CA-4216-8BAD-FA4C970C3C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2057400"/>
            <a:ext cx="0" cy="274320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31" name="Content Placeholder 2">
            <a:extLst>
              <a:ext uri="{FF2B5EF4-FFF2-40B4-BE49-F238E27FC236}">
                <a16:creationId xmlns:a16="http://schemas.microsoft.com/office/drawing/2014/main" id="{32942673-0D4A-4B4A-8DDA-702BD274DA06}"/>
              </a:ext>
            </a:extLst>
          </p:cNvPr>
          <p:cNvSpPr>
            <a:spLocks noGrp="1"/>
          </p:cNvSpPr>
          <p:nvPr>
            <p:ph idx="1"/>
          </p:nvPr>
        </p:nvSpPr>
        <p:spPr>
          <a:xfrm>
            <a:off x="4976031" y="963877"/>
            <a:ext cx="6377769" cy="4930246"/>
          </a:xfrm>
        </p:spPr>
        <p:txBody>
          <a:bodyPr anchor="ctr">
            <a:normAutofit/>
          </a:bodyPr>
          <a:lstStyle/>
          <a:p>
            <a:pPr marL="342900" indent="-342900"/>
            <a:endParaRPr lang="en-CA" sz="2400"/>
          </a:p>
          <a:p>
            <a:pPr marL="342900" indent="-342900"/>
            <a:endParaRPr lang="en-CA" sz="2400"/>
          </a:p>
          <a:p>
            <a:pPr marL="342900" indent="-342900"/>
            <a:r>
              <a:rPr lang="en-CA" sz="2400"/>
              <a:t>Image classification involves associating a class label to the image.</a:t>
            </a:r>
          </a:p>
          <a:p>
            <a:pPr marL="0" indent="0">
              <a:buNone/>
            </a:pPr>
            <a:endParaRPr lang="en-CA" sz="2400"/>
          </a:p>
          <a:p>
            <a:pPr marL="342900" indent="-342900"/>
            <a:r>
              <a:rPr lang="en-CA" sz="2400"/>
              <a:t>Object detection involves detecting the type of object and detecting the location of the object in the image.</a:t>
            </a:r>
          </a:p>
          <a:p>
            <a:pPr marL="0" indent="0">
              <a:buNone/>
            </a:pPr>
            <a:endParaRPr lang="en-CA" sz="2400"/>
          </a:p>
          <a:p>
            <a:pPr marL="342900" indent="-342900"/>
            <a:r>
              <a:rPr lang="en-CA" sz="2400"/>
              <a:t>There can be multiple objects of different types in an image.</a:t>
            </a:r>
          </a:p>
          <a:p>
            <a:pPr marL="342900" indent="-342900"/>
            <a:endParaRPr lang="en-CA" sz="2400"/>
          </a:p>
          <a:p>
            <a:endParaRPr lang="en-IN" sz="2400"/>
          </a:p>
        </p:txBody>
      </p:sp>
    </p:spTree>
    <p:extLst>
      <p:ext uri="{BB962C8B-B14F-4D97-AF65-F5344CB8AC3E}">
        <p14:creationId xmlns:p14="http://schemas.microsoft.com/office/powerpoint/2010/main" val="11758214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8D70B121-56F4-4848-B38B-182089D909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tx1">
              <a:alpha val="8000"/>
            </a:schemeClr>
          </a:solidFill>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9CAFB2E-74A6-4DDD-9B19-56332783169D}"/>
              </a:ext>
            </a:extLst>
          </p:cNvPr>
          <p:cNvSpPr>
            <a:spLocks noGrp="1"/>
          </p:cNvSpPr>
          <p:nvPr>
            <p:ph type="title"/>
          </p:nvPr>
        </p:nvSpPr>
        <p:spPr>
          <a:xfrm>
            <a:off x="561979" y="963877"/>
            <a:ext cx="3897410" cy="4930246"/>
          </a:xfrm>
        </p:spPr>
        <p:txBody>
          <a:bodyPr>
            <a:normAutofit/>
          </a:bodyPr>
          <a:lstStyle/>
          <a:p>
            <a:r>
              <a:rPr lang="en-IN" b="1" dirty="0">
                <a:solidFill>
                  <a:schemeClr val="accent1"/>
                </a:solidFill>
              </a:rPr>
              <a:t>Models Explored</a:t>
            </a:r>
          </a:p>
        </p:txBody>
      </p:sp>
      <p:cxnSp>
        <p:nvCxnSpPr>
          <p:cNvPr id="20" name="Straight Connector 19">
            <a:extLst>
              <a:ext uri="{FF2B5EF4-FFF2-40B4-BE49-F238E27FC236}">
                <a16:creationId xmlns:a16="http://schemas.microsoft.com/office/drawing/2014/main" id="{2D72A2C9-F3CA-4216-8BAD-FA4C970C3C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2057400"/>
            <a:ext cx="0" cy="274320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F0348CE4-79CF-4000-8520-72EA464D05A1}"/>
              </a:ext>
            </a:extLst>
          </p:cNvPr>
          <p:cNvSpPr>
            <a:spLocks noGrp="1"/>
          </p:cNvSpPr>
          <p:nvPr>
            <p:ph idx="1"/>
          </p:nvPr>
        </p:nvSpPr>
        <p:spPr>
          <a:xfrm>
            <a:off x="4976031" y="963877"/>
            <a:ext cx="6377769" cy="4930246"/>
          </a:xfrm>
        </p:spPr>
        <p:txBody>
          <a:bodyPr anchor="ctr">
            <a:normAutofit/>
          </a:bodyPr>
          <a:lstStyle/>
          <a:p>
            <a:pPr marL="514350" indent="-514350">
              <a:buFont typeface="+mj-lt"/>
              <a:buAutoNum type="arabicPeriod"/>
            </a:pPr>
            <a:r>
              <a:rPr lang="en-IN" sz="2400" dirty="0"/>
              <a:t>RCNN</a:t>
            </a:r>
            <a:endParaRPr lang="en-IN" sz="2400"/>
          </a:p>
          <a:p>
            <a:pPr marL="514350" indent="-514350">
              <a:buFont typeface="+mj-lt"/>
              <a:buAutoNum type="arabicPeriod"/>
            </a:pPr>
            <a:r>
              <a:rPr lang="en-IN" sz="2400" dirty="0"/>
              <a:t>Fast RCNN</a:t>
            </a:r>
          </a:p>
          <a:p>
            <a:pPr marL="514350" indent="-514350">
              <a:buFont typeface="+mj-lt"/>
              <a:buAutoNum type="arabicPeriod"/>
            </a:pPr>
            <a:r>
              <a:rPr lang="en-IN" sz="2400" dirty="0"/>
              <a:t>Faster RCNN</a:t>
            </a:r>
          </a:p>
          <a:p>
            <a:pPr marL="514350" indent="-514350">
              <a:buFont typeface="+mj-lt"/>
              <a:buAutoNum type="arabicPeriod"/>
            </a:pPr>
            <a:r>
              <a:rPr lang="en-IN" sz="2400" dirty="0"/>
              <a:t>Tiny YOLO</a:t>
            </a:r>
          </a:p>
          <a:p>
            <a:pPr marL="514350" indent="-514350">
              <a:buFont typeface="+mj-lt"/>
              <a:buAutoNum type="arabicPeriod"/>
            </a:pPr>
            <a:r>
              <a:rPr lang="en-IN" sz="2400" dirty="0"/>
              <a:t>SSD </a:t>
            </a:r>
            <a:r>
              <a:rPr lang="en-IN" sz="2400" dirty="0" err="1"/>
              <a:t>MobileNet</a:t>
            </a:r>
            <a:endParaRPr lang="en-IN" sz="2400" dirty="0"/>
          </a:p>
          <a:p>
            <a:pPr marL="457200" lvl="1" indent="0">
              <a:buNone/>
            </a:pPr>
            <a:r>
              <a:rPr lang="en-IN" dirty="0"/>
              <a:t>			</a:t>
            </a:r>
          </a:p>
          <a:p>
            <a:pPr marL="457200" lvl="1" indent="0">
              <a:buNone/>
            </a:pPr>
            <a:r>
              <a:rPr lang="en-IN" b="1" dirty="0"/>
              <a:t>Accuracy v/s Speed Trade-Off</a:t>
            </a:r>
          </a:p>
        </p:txBody>
      </p:sp>
    </p:spTree>
    <p:extLst>
      <p:ext uri="{BB962C8B-B14F-4D97-AF65-F5344CB8AC3E}">
        <p14:creationId xmlns:p14="http://schemas.microsoft.com/office/powerpoint/2010/main" val="19019947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8D70B121-56F4-4848-B38B-182089D909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tx1">
              <a:alpha val="8000"/>
            </a:schemeClr>
          </a:solidFill>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5AC89CB-C893-4B26-BAD5-389AD9CAFCDE}"/>
              </a:ext>
            </a:extLst>
          </p:cNvPr>
          <p:cNvSpPr>
            <a:spLocks noGrp="1"/>
          </p:cNvSpPr>
          <p:nvPr>
            <p:ph type="title"/>
          </p:nvPr>
        </p:nvSpPr>
        <p:spPr>
          <a:xfrm>
            <a:off x="838201" y="963877"/>
            <a:ext cx="2505074" cy="4930246"/>
          </a:xfrm>
        </p:spPr>
        <p:txBody>
          <a:bodyPr>
            <a:normAutofit/>
          </a:bodyPr>
          <a:lstStyle/>
          <a:p>
            <a:r>
              <a:rPr lang="en-IN" b="1" dirty="0">
                <a:solidFill>
                  <a:schemeClr val="accent1"/>
                </a:solidFill>
              </a:rPr>
              <a:t>1) R-CNN</a:t>
            </a:r>
          </a:p>
        </p:txBody>
      </p:sp>
      <p:cxnSp>
        <p:nvCxnSpPr>
          <p:cNvPr id="24" name="Straight Connector 23">
            <a:extLst>
              <a:ext uri="{FF2B5EF4-FFF2-40B4-BE49-F238E27FC236}">
                <a16:creationId xmlns:a16="http://schemas.microsoft.com/office/drawing/2014/main" id="{2D72A2C9-F3CA-4216-8BAD-FA4C970C3C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2057400"/>
            <a:ext cx="0" cy="274320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17" name="Content Placeholder 2">
            <a:extLst>
              <a:ext uri="{FF2B5EF4-FFF2-40B4-BE49-F238E27FC236}">
                <a16:creationId xmlns:a16="http://schemas.microsoft.com/office/drawing/2014/main" id="{90BA9675-652E-4109-9598-FBC1010A1A3E}"/>
              </a:ext>
            </a:extLst>
          </p:cNvPr>
          <p:cNvSpPr>
            <a:spLocks noGrp="1"/>
          </p:cNvSpPr>
          <p:nvPr>
            <p:ph idx="1"/>
          </p:nvPr>
        </p:nvSpPr>
        <p:spPr>
          <a:xfrm>
            <a:off x="4976031" y="963877"/>
            <a:ext cx="6377769" cy="4930246"/>
          </a:xfrm>
        </p:spPr>
        <p:txBody>
          <a:bodyPr anchor="ctr">
            <a:normAutofit/>
          </a:bodyPr>
          <a:lstStyle/>
          <a:p>
            <a:r>
              <a:rPr lang="en-IN" sz="2400" dirty="0"/>
              <a:t>Object detection can be performed by selecting regions from the image and classifying them.</a:t>
            </a:r>
          </a:p>
          <a:p>
            <a:r>
              <a:rPr lang="en-IN" sz="2400" dirty="0"/>
              <a:t>R-CNN uses a method known as selective search to extract 2000 regions called region proposals from an image.</a:t>
            </a:r>
          </a:p>
          <a:p>
            <a:r>
              <a:rPr lang="en-IN" sz="2400" dirty="0"/>
              <a:t>Each region proposal is resized to a square and fed into a CNN which acts as a feature extractor and then fed into an SVM classifier through a dense layer to classify objects in region proposals.</a:t>
            </a:r>
          </a:p>
          <a:p>
            <a:r>
              <a:rPr lang="en-IN" sz="2400" dirty="0"/>
              <a:t>Additionally, the algorithm predicts four offset values to increase the precision of bounding box.</a:t>
            </a:r>
          </a:p>
        </p:txBody>
      </p:sp>
    </p:spTree>
    <p:extLst>
      <p:ext uri="{BB962C8B-B14F-4D97-AF65-F5344CB8AC3E}">
        <p14:creationId xmlns:p14="http://schemas.microsoft.com/office/powerpoint/2010/main" val="9844813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2" name="Rectangle 14">
            <a:extLst>
              <a:ext uri="{FF2B5EF4-FFF2-40B4-BE49-F238E27FC236}">
                <a16:creationId xmlns:a16="http://schemas.microsoft.com/office/drawing/2014/main" id="{8D70B121-56F4-4848-B38B-182089D909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tx1">
              <a:alpha val="8000"/>
            </a:schemeClr>
          </a:solidFill>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BD14D52-DFC8-4B79-B472-083A8193AF78}"/>
              </a:ext>
            </a:extLst>
          </p:cNvPr>
          <p:cNvSpPr>
            <a:spLocks noGrp="1"/>
          </p:cNvSpPr>
          <p:nvPr>
            <p:ph type="title"/>
          </p:nvPr>
        </p:nvSpPr>
        <p:spPr>
          <a:xfrm>
            <a:off x="838200" y="963877"/>
            <a:ext cx="3378200" cy="4930246"/>
          </a:xfrm>
        </p:spPr>
        <p:txBody>
          <a:bodyPr>
            <a:normAutofit/>
          </a:bodyPr>
          <a:lstStyle/>
          <a:p>
            <a:pPr algn="r"/>
            <a:r>
              <a:rPr lang="en-IN" b="1" dirty="0">
                <a:solidFill>
                  <a:schemeClr val="accent1"/>
                </a:solidFill>
              </a:rPr>
              <a:t>2) Fast R-CNN</a:t>
            </a:r>
          </a:p>
        </p:txBody>
      </p:sp>
      <p:cxnSp>
        <p:nvCxnSpPr>
          <p:cNvPr id="63" name="Straight Connector 16">
            <a:extLst>
              <a:ext uri="{FF2B5EF4-FFF2-40B4-BE49-F238E27FC236}">
                <a16:creationId xmlns:a16="http://schemas.microsoft.com/office/drawing/2014/main" id="{2D72A2C9-F3CA-4216-8BAD-FA4C970C3C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2057400"/>
            <a:ext cx="0" cy="274320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BF3A2EBA-C5EB-41BD-943D-3497DFC0E3D8}"/>
              </a:ext>
            </a:extLst>
          </p:cNvPr>
          <p:cNvSpPr>
            <a:spLocks noGrp="1"/>
          </p:cNvSpPr>
          <p:nvPr>
            <p:ph idx="1"/>
          </p:nvPr>
        </p:nvSpPr>
        <p:spPr>
          <a:xfrm>
            <a:off x="4976031" y="963877"/>
            <a:ext cx="6377769" cy="4930246"/>
          </a:xfrm>
        </p:spPr>
        <p:txBody>
          <a:bodyPr anchor="ctr">
            <a:normAutofit/>
          </a:bodyPr>
          <a:lstStyle/>
          <a:p>
            <a:r>
              <a:rPr lang="en-IN" sz="2400" dirty="0"/>
              <a:t>The only difference between R-CNN and fast R-CNN is that instead of feeding 2000 region of proposals to the CNN every time, input image is fed to CNN and then region of proposals are extracted from feature map. </a:t>
            </a:r>
          </a:p>
          <a:p>
            <a:pPr marL="0" indent="0">
              <a:buNone/>
            </a:pPr>
            <a:endParaRPr lang="en-IN" sz="2400" dirty="0"/>
          </a:p>
          <a:p>
            <a:r>
              <a:rPr lang="en-IN" sz="2400" dirty="0"/>
              <a:t>Therefore it is faster than R-CNN as only one convolution operation is done per image.</a:t>
            </a:r>
          </a:p>
        </p:txBody>
      </p:sp>
    </p:spTree>
    <p:extLst>
      <p:ext uri="{BB962C8B-B14F-4D97-AF65-F5344CB8AC3E}">
        <p14:creationId xmlns:p14="http://schemas.microsoft.com/office/powerpoint/2010/main" val="7588053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D70B121-56F4-4848-B38B-182089D909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tx1">
              <a:alpha val="8000"/>
            </a:schemeClr>
          </a:solidFill>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BBEB0E6-FF80-496D-8AE1-B4D70E2E1B71}"/>
              </a:ext>
            </a:extLst>
          </p:cNvPr>
          <p:cNvSpPr>
            <a:spLocks noGrp="1"/>
          </p:cNvSpPr>
          <p:nvPr>
            <p:ph type="title"/>
          </p:nvPr>
        </p:nvSpPr>
        <p:spPr>
          <a:xfrm>
            <a:off x="571505" y="963877"/>
            <a:ext cx="3761057" cy="4930246"/>
          </a:xfrm>
        </p:spPr>
        <p:txBody>
          <a:bodyPr>
            <a:normAutofit/>
          </a:bodyPr>
          <a:lstStyle/>
          <a:p>
            <a:r>
              <a:rPr lang="en-IN" b="1" dirty="0">
                <a:solidFill>
                  <a:schemeClr val="accent1"/>
                </a:solidFill>
              </a:rPr>
              <a:t>3) Faster R-CNN</a:t>
            </a:r>
          </a:p>
        </p:txBody>
      </p:sp>
      <p:cxnSp>
        <p:nvCxnSpPr>
          <p:cNvPr id="10" name="Straight Connector 9">
            <a:extLst>
              <a:ext uri="{FF2B5EF4-FFF2-40B4-BE49-F238E27FC236}">
                <a16:creationId xmlns:a16="http://schemas.microsoft.com/office/drawing/2014/main" id="{2D72A2C9-F3CA-4216-8BAD-FA4C970C3C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2057400"/>
            <a:ext cx="0" cy="274320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F1FFE218-1B3B-489B-B44C-84D7ED5E576E}"/>
              </a:ext>
            </a:extLst>
          </p:cNvPr>
          <p:cNvSpPr>
            <a:spLocks noGrp="1"/>
          </p:cNvSpPr>
          <p:nvPr>
            <p:ph idx="1"/>
          </p:nvPr>
        </p:nvSpPr>
        <p:spPr>
          <a:xfrm>
            <a:off x="4976031" y="963877"/>
            <a:ext cx="6377769" cy="4930246"/>
          </a:xfrm>
        </p:spPr>
        <p:txBody>
          <a:bodyPr anchor="ctr">
            <a:normAutofit/>
          </a:bodyPr>
          <a:lstStyle/>
          <a:p>
            <a:endParaRPr lang="en-IN" sz="2400"/>
          </a:p>
          <a:p>
            <a:endParaRPr lang="en-IN" sz="2400"/>
          </a:p>
          <a:p>
            <a:r>
              <a:rPr lang="en-IN" sz="2400"/>
              <a:t>Both R-CNN and fast R-CNN use selective search for generating region proposals, which is slow and time-consuming fixed algorithm.</a:t>
            </a:r>
          </a:p>
          <a:p>
            <a:pPr marL="0" indent="0">
              <a:buNone/>
            </a:pPr>
            <a:endParaRPr lang="en-IN" sz="2400"/>
          </a:p>
          <a:p>
            <a:r>
              <a:rPr lang="en-IN" sz="2400"/>
              <a:t>Faster R-CNN uses region proposal network (includes learning) instead of selective search to predict region proposals, and the remaining process is similar to fast R-CNN.</a:t>
            </a:r>
          </a:p>
          <a:p>
            <a:pPr marL="0" indent="0">
              <a:buNone/>
            </a:pPr>
            <a:endParaRPr lang="en-IN" sz="2400"/>
          </a:p>
          <a:p>
            <a:endParaRPr lang="en-IN" sz="2400"/>
          </a:p>
        </p:txBody>
      </p:sp>
    </p:spTree>
    <p:extLst>
      <p:ext uri="{BB962C8B-B14F-4D97-AF65-F5344CB8AC3E}">
        <p14:creationId xmlns:p14="http://schemas.microsoft.com/office/powerpoint/2010/main" val="28078372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A059DB9-6B89-460D-AD4F-4A4F72A00260}"/>
              </a:ext>
            </a:extLst>
          </p:cNvPr>
          <p:cNvSpPr txBox="1"/>
          <p:nvPr/>
        </p:nvSpPr>
        <p:spPr>
          <a:xfrm>
            <a:off x="484214" y="1422400"/>
            <a:ext cx="3505494" cy="3785419"/>
          </a:xfrm>
          <a:prstGeom prst="rect">
            <a:avLst/>
          </a:prstGeom>
        </p:spPr>
        <p:txBody>
          <a:bodyPr vert="horz" lIns="91440" tIns="45720" rIns="91440" bIns="45720" rtlCol="0">
            <a:normAutofit/>
          </a:bodyPr>
          <a:lstStyle/>
          <a:p>
            <a:pPr>
              <a:lnSpc>
                <a:spcPct val="90000"/>
              </a:lnSpc>
              <a:spcAft>
                <a:spcPts val="600"/>
              </a:spcAft>
            </a:pPr>
            <a:r>
              <a:rPr lang="en-US" sz="2000" dirty="0"/>
              <a:t>It is observed that Faster R-CNN is much faster than R-CNN and Fast R-CNN. Therefore, it can be used for real-time object detection.</a:t>
            </a:r>
          </a:p>
        </p:txBody>
      </p:sp>
      <p:sp>
        <p:nvSpPr>
          <p:cNvPr id="9" name="Rectangle 9">
            <a:extLst>
              <a:ext uri="{FF2B5EF4-FFF2-40B4-BE49-F238E27FC236}">
                <a16:creationId xmlns:a16="http://schemas.microsoft.com/office/drawing/2014/main" id="{5E39A796-BE83-48B1-B33F-35C4A32AAB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9">
            <a:extLst>
              <a:ext uri="{FF2B5EF4-FFF2-40B4-BE49-F238E27FC236}">
                <a16:creationId xmlns:a16="http://schemas.microsoft.com/office/drawing/2014/main" id="{72F84B47-E267-4194-8194-831DB7B55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3688" y="557784"/>
            <a:ext cx="6584098" cy="5739187"/>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a:extLst>
              <a:ext uri="{FF2B5EF4-FFF2-40B4-BE49-F238E27FC236}">
                <a16:creationId xmlns:a16="http://schemas.microsoft.com/office/drawing/2014/main" id="{89242C0A-6B22-4DA4-B84B-B37DC3C5C6A0}"/>
              </a:ext>
            </a:extLst>
          </p:cNvPr>
          <p:cNvPicPr>
            <a:picLocks noGrp="1" noChangeAspect="1"/>
          </p:cNvPicPr>
          <p:nvPr>
            <p:ph idx="1"/>
          </p:nvPr>
        </p:nvPicPr>
        <p:blipFill>
          <a:blip r:embed="rId2"/>
          <a:stretch>
            <a:fillRect/>
          </a:stretch>
        </p:blipFill>
        <p:spPr>
          <a:xfrm>
            <a:off x="5405862" y="1952641"/>
            <a:ext cx="6019331" cy="2949472"/>
          </a:xfrm>
          <a:prstGeom prst="rect">
            <a:avLst/>
          </a:prstGeom>
          <a:effectLst/>
        </p:spPr>
      </p:pic>
    </p:spTree>
    <p:extLst>
      <p:ext uri="{BB962C8B-B14F-4D97-AF65-F5344CB8AC3E}">
        <p14:creationId xmlns:p14="http://schemas.microsoft.com/office/powerpoint/2010/main" val="29983001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D70B121-56F4-4848-B38B-182089D909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tx1">
              <a:alpha val="8000"/>
            </a:schemeClr>
          </a:solidFill>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71BD670-94E4-47F9-A81A-B8D050A681F7}"/>
              </a:ext>
            </a:extLst>
          </p:cNvPr>
          <p:cNvSpPr>
            <a:spLocks noGrp="1"/>
          </p:cNvSpPr>
          <p:nvPr>
            <p:ph type="title"/>
          </p:nvPr>
        </p:nvSpPr>
        <p:spPr>
          <a:xfrm>
            <a:off x="838200" y="963877"/>
            <a:ext cx="3494362" cy="4930246"/>
          </a:xfrm>
        </p:spPr>
        <p:txBody>
          <a:bodyPr>
            <a:normAutofit/>
          </a:bodyPr>
          <a:lstStyle/>
          <a:p>
            <a:r>
              <a:rPr lang="en-IN" b="1" dirty="0">
                <a:solidFill>
                  <a:schemeClr val="accent1"/>
                </a:solidFill>
              </a:rPr>
              <a:t>4) Tiny YOLO</a:t>
            </a:r>
          </a:p>
        </p:txBody>
      </p:sp>
      <p:cxnSp>
        <p:nvCxnSpPr>
          <p:cNvPr id="10" name="Straight Connector 9">
            <a:extLst>
              <a:ext uri="{FF2B5EF4-FFF2-40B4-BE49-F238E27FC236}">
                <a16:creationId xmlns:a16="http://schemas.microsoft.com/office/drawing/2014/main" id="{2D72A2C9-F3CA-4216-8BAD-FA4C970C3C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2057400"/>
            <a:ext cx="0" cy="274320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A81F1431-413F-4E02-AEF7-B18ED90FF7B4}"/>
              </a:ext>
            </a:extLst>
          </p:cNvPr>
          <p:cNvSpPr>
            <a:spLocks noGrp="1"/>
          </p:cNvSpPr>
          <p:nvPr>
            <p:ph idx="1"/>
          </p:nvPr>
        </p:nvSpPr>
        <p:spPr>
          <a:xfrm>
            <a:off x="4781562" y="409576"/>
            <a:ext cx="6867503" cy="6010274"/>
          </a:xfrm>
        </p:spPr>
        <p:txBody>
          <a:bodyPr anchor="ctr">
            <a:normAutofit/>
          </a:bodyPr>
          <a:lstStyle/>
          <a:p>
            <a:pPr marL="342900" indent="-342900"/>
            <a:endParaRPr lang="en-CA" sz="2400"/>
          </a:p>
          <a:p>
            <a:pPr marL="342900" indent="-342900"/>
            <a:r>
              <a:rPr lang="en-CA" sz="2400" err="1"/>
              <a:t>Yolo</a:t>
            </a:r>
            <a:r>
              <a:rPr lang="en-CA" sz="2400" dirty="0"/>
              <a:t> family(YOLOv1,YOLOv2,YOLOv3) is more famous for its speed.</a:t>
            </a:r>
          </a:p>
          <a:p>
            <a:pPr marL="0" indent="0">
              <a:buNone/>
            </a:pPr>
            <a:r>
              <a:rPr lang="en-CA" sz="2400" dirty="0">
                <a:solidFill>
                  <a:srgbClr val="FF0000"/>
                </a:solidFill>
              </a:rPr>
              <a:t> </a:t>
            </a:r>
            <a:r>
              <a:rPr lang="en-US" sz="2400" dirty="0">
                <a:solidFill>
                  <a:srgbClr val="FF0000"/>
                </a:solidFill>
              </a:rPr>
              <a:t>“ On a Pascal Titan X it processes images at 30 FPS and has a </a:t>
            </a:r>
            <a:r>
              <a:rPr lang="en-US" sz="2400" dirty="0" err="1">
                <a:solidFill>
                  <a:srgbClr val="FF0000"/>
                </a:solidFill>
              </a:rPr>
              <a:t>mAP</a:t>
            </a:r>
            <a:r>
              <a:rPr lang="en-US" sz="2400" dirty="0">
                <a:solidFill>
                  <a:srgbClr val="FF0000"/>
                </a:solidFill>
              </a:rPr>
              <a:t> of 57.9% on COCO test-dev.”</a:t>
            </a:r>
            <a:endParaRPr lang="en-CA" sz="2400" dirty="0">
              <a:solidFill>
                <a:srgbClr val="FF0000"/>
              </a:solidFill>
            </a:endParaRPr>
          </a:p>
          <a:p>
            <a:pPr marL="342900" indent="-342900"/>
            <a:r>
              <a:rPr lang="en-CA" sz="2400" dirty="0"/>
              <a:t>Tiny </a:t>
            </a:r>
            <a:r>
              <a:rPr lang="en-CA" sz="2400" dirty="0" err="1"/>
              <a:t>Yolo</a:t>
            </a:r>
            <a:endParaRPr lang="en-CA" sz="2400" dirty="0"/>
          </a:p>
          <a:p>
            <a:pPr marL="800100" lvl="1" indent="-342900"/>
            <a:r>
              <a:rPr lang="en-CA" dirty="0"/>
              <a:t>Tiny </a:t>
            </a:r>
            <a:r>
              <a:rPr lang="en-CA" dirty="0" err="1"/>
              <a:t>Yolo</a:t>
            </a:r>
            <a:r>
              <a:rPr lang="en-CA" dirty="0"/>
              <a:t>: Lighter version of </a:t>
            </a:r>
            <a:r>
              <a:rPr lang="en-CA" dirty="0" err="1"/>
              <a:t>Yolo</a:t>
            </a:r>
            <a:endParaRPr lang="en-CA" dirty="0"/>
          </a:p>
          <a:p>
            <a:pPr marL="800100" lvl="1" indent="-342900"/>
            <a:r>
              <a:rPr lang="en-CA" dirty="0"/>
              <a:t>Faster than </a:t>
            </a:r>
            <a:r>
              <a:rPr lang="en-CA" dirty="0" err="1"/>
              <a:t>Yolo</a:t>
            </a:r>
            <a:r>
              <a:rPr lang="en-CA" dirty="0"/>
              <a:t>, but compromises accuracy</a:t>
            </a:r>
          </a:p>
          <a:p>
            <a:pPr marL="457200" lvl="1" indent="0">
              <a:buNone/>
            </a:pPr>
            <a:endParaRPr lang="en-CA" dirty="0"/>
          </a:p>
          <a:p>
            <a:pPr marL="342900" indent="-342900"/>
            <a:r>
              <a:rPr lang="en-CA" sz="2400" dirty="0"/>
              <a:t>Input size : 416 x 416, RGB Format</a:t>
            </a:r>
          </a:p>
          <a:p>
            <a:pPr marL="0" indent="0">
              <a:buNone/>
            </a:pPr>
            <a:endParaRPr lang="en-CA" sz="2400" dirty="0"/>
          </a:p>
          <a:p>
            <a:pPr marL="342900" indent="-342900"/>
            <a:r>
              <a:rPr lang="en-CA" sz="2400" dirty="0"/>
              <a:t>Number of classes: 80 (COCO Dataset)</a:t>
            </a:r>
          </a:p>
          <a:p>
            <a:pPr marL="0" indent="0">
              <a:buNone/>
            </a:pPr>
            <a:endParaRPr lang="en-CA" sz="2400" dirty="0"/>
          </a:p>
          <a:p>
            <a:pPr marL="342900" indent="-342900"/>
            <a:r>
              <a:rPr lang="en-CA" sz="2400" dirty="0"/>
              <a:t>9 convolution Layers and 6 Max Pooling Layers</a:t>
            </a:r>
          </a:p>
          <a:p>
            <a:endParaRPr lang="en-IN" sz="2400" dirty="0"/>
          </a:p>
        </p:txBody>
      </p:sp>
    </p:spTree>
    <p:extLst>
      <p:ext uri="{BB962C8B-B14F-4D97-AF65-F5344CB8AC3E}">
        <p14:creationId xmlns:p14="http://schemas.microsoft.com/office/powerpoint/2010/main" val="3170306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D70B121-56F4-4848-B38B-182089D909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tx1">
              <a:alpha val="8000"/>
            </a:schemeClr>
          </a:solidFill>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CAFDAC6-9178-44F7-9890-8FCE64A03DBF}"/>
              </a:ext>
            </a:extLst>
          </p:cNvPr>
          <p:cNvSpPr>
            <a:spLocks noGrp="1"/>
          </p:cNvSpPr>
          <p:nvPr>
            <p:ph type="title"/>
          </p:nvPr>
        </p:nvSpPr>
        <p:spPr>
          <a:xfrm>
            <a:off x="438151" y="963877"/>
            <a:ext cx="3894411" cy="4930246"/>
          </a:xfrm>
        </p:spPr>
        <p:txBody>
          <a:bodyPr>
            <a:normAutofit/>
          </a:bodyPr>
          <a:lstStyle/>
          <a:p>
            <a:r>
              <a:rPr lang="en-IN" b="1" dirty="0">
                <a:solidFill>
                  <a:schemeClr val="accent1"/>
                </a:solidFill>
              </a:rPr>
              <a:t>5) Single Shot Detectors (SSD)</a:t>
            </a:r>
          </a:p>
        </p:txBody>
      </p:sp>
      <p:cxnSp>
        <p:nvCxnSpPr>
          <p:cNvPr id="10" name="Straight Connector 9">
            <a:extLst>
              <a:ext uri="{FF2B5EF4-FFF2-40B4-BE49-F238E27FC236}">
                <a16:creationId xmlns:a16="http://schemas.microsoft.com/office/drawing/2014/main" id="{2D72A2C9-F3CA-4216-8BAD-FA4C970C3C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2057400"/>
            <a:ext cx="0" cy="274320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4A125C1-3077-4515-AFCB-70241F600FF5}"/>
              </a:ext>
            </a:extLst>
          </p:cNvPr>
          <p:cNvSpPr>
            <a:spLocks noGrp="1"/>
          </p:cNvSpPr>
          <p:nvPr>
            <p:ph idx="1"/>
          </p:nvPr>
        </p:nvSpPr>
        <p:spPr>
          <a:xfrm>
            <a:off x="4912614" y="1428750"/>
            <a:ext cx="6377769" cy="5084498"/>
          </a:xfrm>
        </p:spPr>
        <p:txBody>
          <a:bodyPr anchor="ctr">
            <a:normAutofit lnSpcReduction="10000"/>
          </a:bodyPr>
          <a:lstStyle/>
          <a:p>
            <a:endParaRPr lang="en-IN" sz="2400" dirty="0"/>
          </a:p>
          <a:p>
            <a:endParaRPr lang="en-IN" sz="2400" dirty="0"/>
          </a:p>
          <a:p>
            <a:endParaRPr lang="en-IN" sz="2400" dirty="0"/>
          </a:p>
          <a:p>
            <a:endParaRPr lang="en-IN" sz="2400"/>
          </a:p>
          <a:p>
            <a:r>
              <a:rPr lang="en-IN" sz="2400" dirty="0"/>
              <a:t>Single shot detectors perform object detection in an image in a single shot unlike R-CNN where two shots are needed, one for generating region proposals and one for object detection.</a:t>
            </a:r>
            <a:endParaRPr lang="en-IN" sz="2400"/>
          </a:p>
          <a:p>
            <a:pPr marL="0" indent="0">
              <a:buNone/>
            </a:pPr>
            <a:endParaRPr lang="en-IN" sz="2400" dirty="0"/>
          </a:p>
          <a:p>
            <a:r>
              <a:rPr lang="en-IN" sz="2400" dirty="0"/>
              <a:t>Therefore SSD is faster than RPN-based models.</a:t>
            </a:r>
          </a:p>
          <a:p>
            <a:endParaRPr lang="en-IN" sz="2400" dirty="0"/>
          </a:p>
          <a:p>
            <a:r>
              <a:rPr lang="en-US" sz="2400" dirty="0">
                <a:cs typeface="Calibri" panose="020F0502020204030204"/>
              </a:rPr>
              <a:t>SSD maintains a balance between the two, speed and accuracy.</a:t>
            </a:r>
          </a:p>
          <a:p>
            <a:endParaRPr lang="en-IN" sz="2400" dirty="0"/>
          </a:p>
          <a:p>
            <a:pPr marL="342900" indent="-342900"/>
            <a:endParaRPr lang="en-US" sz="2400" dirty="0">
              <a:cs typeface="Calibri" panose="020F0502020204030204"/>
            </a:endParaRPr>
          </a:p>
          <a:p>
            <a:endParaRPr lang="en-IN" sz="2400" dirty="0"/>
          </a:p>
          <a:p>
            <a:endParaRPr lang="en-IN" sz="2400" dirty="0"/>
          </a:p>
          <a:p>
            <a:endParaRPr lang="en-IN" sz="2400" dirty="0"/>
          </a:p>
          <a:p>
            <a:endParaRPr lang="en-IN" sz="2400" dirty="0"/>
          </a:p>
          <a:p>
            <a:endParaRPr lang="en-IN" sz="2400" dirty="0"/>
          </a:p>
        </p:txBody>
      </p:sp>
    </p:spTree>
    <p:extLst>
      <p:ext uri="{BB962C8B-B14F-4D97-AF65-F5344CB8AC3E}">
        <p14:creationId xmlns:p14="http://schemas.microsoft.com/office/powerpoint/2010/main" val="24911545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D70B121-56F4-4848-B38B-182089D909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tx1">
              <a:alpha val="8000"/>
            </a:schemeClr>
          </a:solidFill>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F7A22B5-5208-400E-B3C7-75C396E3F400}"/>
              </a:ext>
            </a:extLst>
          </p:cNvPr>
          <p:cNvSpPr>
            <a:spLocks noGrp="1"/>
          </p:cNvSpPr>
          <p:nvPr>
            <p:ph type="title"/>
          </p:nvPr>
        </p:nvSpPr>
        <p:spPr>
          <a:xfrm>
            <a:off x="838200" y="963877"/>
            <a:ext cx="3494362" cy="4930246"/>
          </a:xfrm>
        </p:spPr>
        <p:txBody>
          <a:bodyPr>
            <a:normAutofit/>
          </a:bodyPr>
          <a:lstStyle/>
          <a:p>
            <a:pPr algn="r"/>
            <a:r>
              <a:rPr lang="en-IN" b="1">
                <a:solidFill>
                  <a:schemeClr val="accent1"/>
                </a:solidFill>
              </a:rPr>
              <a:t>SSD MobileNet</a:t>
            </a:r>
          </a:p>
        </p:txBody>
      </p:sp>
      <p:cxnSp>
        <p:nvCxnSpPr>
          <p:cNvPr id="10" name="Straight Connector 9">
            <a:extLst>
              <a:ext uri="{FF2B5EF4-FFF2-40B4-BE49-F238E27FC236}">
                <a16:creationId xmlns:a16="http://schemas.microsoft.com/office/drawing/2014/main" id="{2D72A2C9-F3CA-4216-8BAD-FA4C970C3C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2057400"/>
            <a:ext cx="0" cy="274320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A1173796-32FE-4ABD-9805-7E939A021D4C}"/>
              </a:ext>
            </a:extLst>
          </p:cNvPr>
          <p:cNvSpPr>
            <a:spLocks noGrp="1"/>
          </p:cNvSpPr>
          <p:nvPr>
            <p:ph idx="1"/>
          </p:nvPr>
        </p:nvSpPr>
        <p:spPr>
          <a:xfrm>
            <a:off x="4976031" y="963877"/>
            <a:ext cx="6377769" cy="4930246"/>
          </a:xfrm>
        </p:spPr>
        <p:txBody>
          <a:bodyPr anchor="ctr">
            <a:normAutofit lnSpcReduction="10000"/>
          </a:bodyPr>
          <a:lstStyle/>
          <a:p>
            <a:endParaRPr lang="en-IN" sz="2400"/>
          </a:p>
          <a:p>
            <a:r>
              <a:rPr lang="en-IN" sz="2400"/>
              <a:t>MobileNets are base networks used for </a:t>
            </a:r>
            <a:r>
              <a:rPr lang="en-IN" sz="2400" b="1"/>
              <a:t>feature extraction</a:t>
            </a:r>
            <a:r>
              <a:rPr lang="en-IN" sz="2400"/>
              <a:t>, these high-level features are then used by an SSD for object detection.</a:t>
            </a:r>
          </a:p>
          <a:p>
            <a:pPr marL="0" indent="0">
              <a:buNone/>
            </a:pPr>
            <a:endParaRPr lang="en-IN" sz="2400"/>
          </a:p>
          <a:p>
            <a:r>
              <a:rPr lang="en-US" sz="2400">
                <a:cs typeface="Calibri" panose="020F0502020204030204"/>
              </a:rPr>
              <a:t>SSD </a:t>
            </a:r>
            <a:r>
              <a:rPr lang="en-US" sz="2400" err="1">
                <a:cs typeface="Calibri" panose="020F0502020204030204"/>
              </a:rPr>
              <a:t>MobileNets</a:t>
            </a:r>
            <a:r>
              <a:rPr lang="en-US" sz="2400">
                <a:cs typeface="Calibri" panose="020F0502020204030204"/>
              </a:rPr>
              <a:t> are designed for resource-constrained devices such as smartphones, raspberry pi processors etc.</a:t>
            </a:r>
          </a:p>
          <a:p>
            <a:pPr marL="0" indent="0">
              <a:buNone/>
            </a:pPr>
            <a:endParaRPr lang="en-US" sz="2400">
              <a:cs typeface="Calibri" panose="020F0502020204030204"/>
            </a:endParaRPr>
          </a:p>
          <a:p>
            <a:r>
              <a:rPr lang="en-US" sz="2400" err="1">
                <a:cs typeface="Calibri" panose="020F0502020204030204"/>
              </a:rPr>
              <a:t>MobileNets</a:t>
            </a:r>
            <a:r>
              <a:rPr lang="en-US" sz="2400">
                <a:cs typeface="Calibri" panose="020F0502020204030204"/>
              </a:rPr>
              <a:t> use </a:t>
            </a:r>
            <a:r>
              <a:rPr lang="en-US" sz="2400" err="1">
                <a:cs typeface="Calibri" panose="020F0502020204030204"/>
              </a:rPr>
              <a:t>depthwise</a:t>
            </a:r>
            <a:r>
              <a:rPr lang="en-US" sz="2400">
                <a:cs typeface="Calibri" panose="020F0502020204030204"/>
              </a:rPr>
              <a:t> separable convolution reducing the number of parameters in the network making them faster and more efficient than other base networks.</a:t>
            </a:r>
          </a:p>
          <a:p>
            <a:pPr marL="0" indent="0">
              <a:buNone/>
            </a:pPr>
            <a:endParaRPr lang="en-US" sz="2400">
              <a:cs typeface="Calibri" panose="020F0502020204030204"/>
            </a:endParaRPr>
          </a:p>
        </p:txBody>
      </p:sp>
    </p:spTree>
    <p:extLst>
      <p:ext uri="{BB962C8B-B14F-4D97-AF65-F5344CB8AC3E}">
        <p14:creationId xmlns:p14="http://schemas.microsoft.com/office/powerpoint/2010/main" val="38030972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0">
            <a:extLst>
              <a:ext uri="{FF2B5EF4-FFF2-40B4-BE49-F238E27FC236}">
                <a16:creationId xmlns:a16="http://schemas.microsoft.com/office/drawing/2014/main" id="{71CFE9EA-50D8-4028-BE42-DC2D813BEA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251674"/>
            <a:ext cx="11548872" cy="1645920"/>
          </a:xfrm>
          <a:prstGeom prst="rect">
            <a:avLst/>
          </a:prstGeom>
          <a:solidFill>
            <a:schemeClr val="tx1">
              <a:lumMod val="75000"/>
              <a:lumOff val="25000"/>
            </a:schemeClr>
          </a:solidFill>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A2F623E-1B14-42A5-BA84-24661D22E1CD}"/>
              </a:ext>
            </a:extLst>
          </p:cNvPr>
          <p:cNvSpPr>
            <a:spLocks noGrp="1"/>
          </p:cNvSpPr>
          <p:nvPr>
            <p:ph type="title"/>
          </p:nvPr>
        </p:nvSpPr>
        <p:spPr>
          <a:xfrm>
            <a:off x="4379976" y="452842"/>
            <a:ext cx="6976872" cy="1261872"/>
          </a:xfrm>
        </p:spPr>
        <p:txBody>
          <a:bodyPr vert="horz" lIns="91440" tIns="45720" rIns="91440" bIns="45720" rtlCol="0" anchor="ctr">
            <a:normAutofit/>
          </a:bodyPr>
          <a:lstStyle/>
          <a:p>
            <a:r>
              <a:rPr lang="en-US" sz="4800" b="1" kern="1200" dirty="0">
                <a:solidFill>
                  <a:schemeClr val="bg1"/>
                </a:solidFill>
                <a:latin typeface="+mj-lt"/>
                <a:ea typeface="+mj-ea"/>
                <a:cs typeface="+mj-cs"/>
              </a:rPr>
              <a:t>Experimental Setup</a:t>
            </a:r>
          </a:p>
        </p:txBody>
      </p:sp>
      <p:cxnSp>
        <p:nvCxnSpPr>
          <p:cNvPr id="14" name="Straight Connector 12">
            <a:extLst>
              <a:ext uri="{FF2B5EF4-FFF2-40B4-BE49-F238E27FC236}">
                <a16:creationId xmlns:a16="http://schemas.microsoft.com/office/drawing/2014/main" id="{9A218DD6-0CC7-465B-B80F-747F97B4021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4059936" y="623740"/>
            <a:ext cx="0" cy="914400"/>
          </a:xfrm>
          <a:prstGeom prst="line">
            <a:avLst/>
          </a:prstGeom>
          <a:ln w="19050">
            <a:solidFill>
              <a:schemeClr val="bg1">
                <a:alpha val="80000"/>
              </a:schemeClr>
            </a:solidFill>
          </a:ln>
        </p:spPr>
        <p:style>
          <a:lnRef idx="1">
            <a:schemeClr val="accent1"/>
          </a:lnRef>
          <a:fillRef idx="0">
            <a:schemeClr val="accent1"/>
          </a:fillRef>
          <a:effectRef idx="0">
            <a:schemeClr val="accent1"/>
          </a:effectRef>
          <a:fontRef idx="minor">
            <a:schemeClr val="tx1"/>
          </a:fontRef>
        </p:style>
      </p:cxnSp>
      <p:graphicFrame>
        <p:nvGraphicFramePr>
          <p:cNvPr id="6" name="Table 6">
            <a:extLst>
              <a:ext uri="{FF2B5EF4-FFF2-40B4-BE49-F238E27FC236}">
                <a16:creationId xmlns:a16="http://schemas.microsoft.com/office/drawing/2014/main" id="{F6FE4654-9F57-4720-97D7-436A9E1C7D94}"/>
              </a:ext>
            </a:extLst>
          </p:cNvPr>
          <p:cNvGraphicFramePr>
            <a:graphicFrameLocks noGrp="1"/>
          </p:cNvGraphicFramePr>
          <p:nvPr>
            <p:extLst>
              <p:ext uri="{D42A27DB-BD31-4B8C-83A1-F6EECF244321}">
                <p14:modId xmlns:p14="http://schemas.microsoft.com/office/powerpoint/2010/main" val="4132991088"/>
              </p:ext>
            </p:extLst>
          </p:nvPr>
        </p:nvGraphicFramePr>
        <p:xfrm>
          <a:off x="1233933" y="2150036"/>
          <a:ext cx="9724135" cy="4206243"/>
        </p:xfrm>
        <a:graphic>
          <a:graphicData uri="http://schemas.openxmlformats.org/drawingml/2006/table">
            <a:tbl>
              <a:tblPr firstRow="1">
                <a:tableStyleId>{9D7B26C5-4107-4FEC-AEDC-1716B250A1EF}</a:tableStyleId>
              </a:tblPr>
              <a:tblGrid>
                <a:gridCol w="2379427">
                  <a:extLst>
                    <a:ext uri="{9D8B030D-6E8A-4147-A177-3AD203B41FA5}">
                      <a16:colId xmlns:a16="http://schemas.microsoft.com/office/drawing/2014/main" val="842923862"/>
                    </a:ext>
                  </a:extLst>
                </a:gridCol>
                <a:gridCol w="2429042">
                  <a:extLst>
                    <a:ext uri="{9D8B030D-6E8A-4147-A177-3AD203B41FA5}">
                      <a16:colId xmlns:a16="http://schemas.microsoft.com/office/drawing/2014/main" val="52259826"/>
                    </a:ext>
                  </a:extLst>
                </a:gridCol>
                <a:gridCol w="2422893">
                  <a:extLst>
                    <a:ext uri="{9D8B030D-6E8A-4147-A177-3AD203B41FA5}">
                      <a16:colId xmlns:a16="http://schemas.microsoft.com/office/drawing/2014/main" val="3168143465"/>
                    </a:ext>
                  </a:extLst>
                </a:gridCol>
                <a:gridCol w="2492773">
                  <a:extLst>
                    <a:ext uri="{9D8B030D-6E8A-4147-A177-3AD203B41FA5}">
                      <a16:colId xmlns:a16="http://schemas.microsoft.com/office/drawing/2014/main" val="3176542610"/>
                    </a:ext>
                  </a:extLst>
                </a:gridCol>
              </a:tblGrid>
              <a:tr h="744646">
                <a:tc>
                  <a:txBody>
                    <a:bodyPr/>
                    <a:lstStyle/>
                    <a:p>
                      <a:r>
                        <a:rPr lang="en-IN" sz="2000"/>
                        <a:t>Models Implemented</a:t>
                      </a:r>
                    </a:p>
                  </a:txBody>
                  <a:tcPr marL="100628" marR="100628" marT="50314" marB="50314"/>
                </a:tc>
                <a:tc>
                  <a:txBody>
                    <a:bodyPr/>
                    <a:lstStyle/>
                    <a:p>
                      <a:r>
                        <a:rPr lang="en-IN" sz="2000"/>
                        <a:t>System Configuration</a:t>
                      </a:r>
                    </a:p>
                  </a:txBody>
                  <a:tcPr marL="100628" marR="100628" marT="50314" marB="50314"/>
                </a:tc>
                <a:tc>
                  <a:txBody>
                    <a:bodyPr/>
                    <a:lstStyle/>
                    <a:p>
                      <a:r>
                        <a:rPr lang="en-IN" sz="2000"/>
                        <a:t>Input Type</a:t>
                      </a:r>
                    </a:p>
                  </a:txBody>
                  <a:tcPr marL="100628" marR="100628" marT="50314" marB="50314"/>
                </a:tc>
                <a:tc>
                  <a:txBody>
                    <a:bodyPr/>
                    <a:lstStyle/>
                    <a:p>
                      <a:r>
                        <a:rPr lang="en-IN" sz="2000"/>
                        <a:t>Output </a:t>
                      </a:r>
                    </a:p>
                  </a:txBody>
                  <a:tcPr marL="100628" marR="100628" marT="50314" marB="50314"/>
                </a:tc>
                <a:extLst>
                  <a:ext uri="{0D108BD9-81ED-4DB2-BD59-A6C34878D82A}">
                    <a16:rowId xmlns:a16="http://schemas.microsoft.com/office/drawing/2014/main" val="241497615"/>
                  </a:ext>
                </a:extLst>
              </a:tr>
              <a:tr h="10532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000"/>
                        <a:t>Faster RCNN </a:t>
                      </a:r>
                    </a:p>
                  </a:txBody>
                  <a:tcPr marL="100628" marR="100628" marT="50314" marB="50314"/>
                </a:tc>
                <a:tc rowSpan="3">
                  <a:txBody>
                    <a:bodyPr/>
                    <a:lstStyle/>
                    <a:p>
                      <a:r>
                        <a:rPr lang="en-IN" sz="2000"/>
                        <a:t>Host Machine:</a:t>
                      </a:r>
                    </a:p>
                    <a:p>
                      <a:r>
                        <a:rPr lang="en-IN" sz="2000"/>
                        <a:t>Processor I5 8</a:t>
                      </a:r>
                      <a:r>
                        <a:rPr lang="en-IN" sz="2000" baseline="30000"/>
                        <a:t>th</a:t>
                      </a:r>
                      <a:r>
                        <a:rPr lang="en-IN" sz="2000"/>
                        <a:t> Gen</a:t>
                      </a:r>
                    </a:p>
                    <a:p>
                      <a:r>
                        <a:rPr lang="en-IN" sz="2000"/>
                        <a:t>RAM : 8 GB</a:t>
                      </a:r>
                    </a:p>
                    <a:p>
                      <a:r>
                        <a:rPr lang="en-IN" sz="2000"/>
                        <a:t>GPU : None</a:t>
                      </a:r>
                    </a:p>
                    <a:p>
                      <a:endParaRPr lang="en-IN" sz="2000"/>
                    </a:p>
                    <a:p>
                      <a:r>
                        <a:rPr lang="en-IN" sz="2000"/>
                        <a:t>Emulator: Raspberry Pi 3B</a:t>
                      </a:r>
                    </a:p>
                    <a:p>
                      <a:r>
                        <a:rPr lang="en-IN" sz="2000"/>
                        <a:t>RAM: 1 GB</a:t>
                      </a:r>
                    </a:p>
                    <a:p>
                      <a:r>
                        <a:rPr lang="en-IN" sz="2000"/>
                        <a:t>OS : Raspbian</a:t>
                      </a:r>
                    </a:p>
                    <a:p>
                      <a:endParaRPr lang="en-IN" sz="2000"/>
                    </a:p>
                  </a:txBody>
                  <a:tcPr marL="100628" marR="100628" marT="50314" marB="50314"/>
                </a:tc>
                <a:tc rowSpan="3">
                  <a:txBody>
                    <a:bodyPr/>
                    <a:lstStyle/>
                    <a:p>
                      <a:r>
                        <a:rPr lang="en-IN" sz="2000"/>
                        <a:t>Video File from local System</a:t>
                      </a:r>
                    </a:p>
                  </a:txBody>
                  <a:tcPr marL="100628" marR="100628" marT="50314" marB="50314"/>
                </a:tc>
                <a:tc rowSpan="3">
                  <a:txBody>
                    <a:bodyPr/>
                    <a:lstStyle/>
                    <a:p>
                      <a:r>
                        <a:rPr lang="en-IN" sz="2000"/>
                        <a:t>A bounding box around identified object, indicating the confidence score in the detection for a particular object.</a:t>
                      </a:r>
                    </a:p>
                    <a:p>
                      <a:endParaRPr lang="en-IN" sz="2000"/>
                    </a:p>
                  </a:txBody>
                  <a:tcPr marL="100628" marR="100628" marT="50314" marB="50314"/>
                </a:tc>
                <a:extLst>
                  <a:ext uri="{0D108BD9-81ED-4DB2-BD59-A6C34878D82A}">
                    <a16:rowId xmlns:a16="http://schemas.microsoft.com/office/drawing/2014/main" val="4148517729"/>
                  </a:ext>
                </a:extLst>
              </a:tr>
              <a:tr h="10532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000"/>
                        <a:t>Tiny YOLOv3</a:t>
                      </a:r>
                    </a:p>
                  </a:txBody>
                  <a:tcPr marL="100628" marR="100628" marT="50314" marB="50314"/>
                </a:tc>
                <a:tc vMerge="1">
                  <a:txBody>
                    <a:bodyPr/>
                    <a:lstStyle/>
                    <a:p>
                      <a:endParaRPr lang="en-IN"/>
                    </a:p>
                  </a:txBody>
                  <a:tcPr/>
                </a:tc>
                <a:tc vMerge="1">
                  <a:txBody>
                    <a:bodyPr/>
                    <a:lstStyle/>
                    <a:p>
                      <a:endParaRPr lang="en-IN"/>
                    </a:p>
                  </a:txBody>
                  <a:tcPr/>
                </a:tc>
                <a:tc vMerge="1">
                  <a:txBody>
                    <a:bodyPr/>
                    <a:lstStyle/>
                    <a:p>
                      <a:endParaRPr lang="en-IN"/>
                    </a:p>
                  </a:txBody>
                  <a:tcPr/>
                </a:tc>
                <a:extLst>
                  <a:ext uri="{0D108BD9-81ED-4DB2-BD59-A6C34878D82A}">
                    <a16:rowId xmlns:a16="http://schemas.microsoft.com/office/drawing/2014/main" val="1580630933"/>
                  </a:ext>
                </a:extLst>
              </a:tr>
              <a:tr h="1355121">
                <a:tc>
                  <a:txBody>
                    <a:bodyPr/>
                    <a:lstStyle/>
                    <a:p>
                      <a:r>
                        <a:rPr lang="en-IN" sz="2000"/>
                        <a:t>SSD Lite MobileNet</a:t>
                      </a:r>
                    </a:p>
                  </a:txBody>
                  <a:tcPr marL="100628" marR="100628" marT="50314" marB="50314"/>
                </a:tc>
                <a:tc vMerge="1">
                  <a:txBody>
                    <a:bodyPr/>
                    <a:lstStyle/>
                    <a:p>
                      <a:endParaRPr lang="en-IN"/>
                    </a:p>
                  </a:txBody>
                  <a:tcPr/>
                </a:tc>
                <a:tc vMerge="1">
                  <a:txBody>
                    <a:bodyPr/>
                    <a:lstStyle/>
                    <a:p>
                      <a:endParaRPr lang="en-IN"/>
                    </a:p>
                  </a:txBody>
                  <a:tcPr/>
                </a:tc>
                <a:tc vMerge="1">
                  <a:txBody>
                    <a:bodyPr/>
                    <a:lstStyle/>
                    <a:p>
                      <a:endParaRPr lang="en-IN"/>
                    </a:p>
                  </a:txBody>
                  <a:tcPr/>
                </a:tc>
                <a:extLst>
                  <a:ext uri="{0D108BD9-81ED-4DB2-BD59-A6C34878D82A}">
                    <a16:rowId xmlns:a16="http://schemas.microsoft.com/office/drawing/2014/main" val="1717856648"/>
                  </a:ext>
                </a:extLst>
              </a:tr>
            </a:tbl>
          </a:graphicData>
        </a:graphic>
      </p:graphicFrame>
    </p:spTree>
    <p:extLst>
      <p:ext uri="{BB962C8B-B14F-4D97-AF65-F5344CB8AC3E}">
        <p14:creationId xmlns:p14="http://schemas.microsoft.com/office/powerpoint/2010/main" val="25665174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0">
            <a:extLst>
              <a:ext uri="{FF2B5EF4-FFF2-40B4-BE49-F238E27FC236}">
                <a16:creationId xmlns:a16="http://schemas.microsoft.com/office/drawing/2014/main" id="{71CFE9EA-50D8-4028-BE42-DC2D813BEA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251674"/>
            <a:ext cx="11548872" cy="1645920"/>
          </a:xfrm>
          <a:prstGeom prst="rect">
            <a:avLst/>
          </a:prstGeom>
          <a:solidFill>
            <a:schemeClr val="tx1">
              <a:lumMod val="75000"/>
              <a:lumOff val="25000"/>
            </a:schemeClr>
          </a:solidFill>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A2F623E-1B14-42A5-BA84-24661D22E1CD}"/>
              </a:ext>
            </a:extLst>
          </p:cNvPr>
          <p:cNvSpPr>
            <a:spLocks noGrp="1"/>
          </p:cNvSpPr>
          <p:nvPr>
            <p:ph type="title"/>
          </p:nvPr>
        </p:nvSpPr>
        <p:spPr>
          <a:xfrm>
            <a:off x="4379976" y="452842"/>
            <a:ext cx="6976872" cy="1261872"/>
          </a:xfrm>
        </p:spPr>
        <p:txBody>
          <a:bodyPr vert="horz" lIns="91440" tIns="45720" rIns="91440" bIns="45720" rtlCol="0" anchor="ctr">
            <a:normAutofit/>
          </a:bodyPr>
          <a:lstStyle/>
          <a:p>
            <a:r>
              <a:rPr lang="en-US" sz="4800" b="1" dirty="0">
                <a:solidFill>
                  <a:schemeClr val="bg1"/>
                </a:solidFill>
              </a:rPr>
              <a:t>Results</a:t>
            </a:r>
            <a:endParaRPr lang="en-US" sz="4800" b="1" kern="1200" dirty="0">
              <a:solidFill>
                <a:schemeClr val="bg1"/>
              </a:solidFill>
              <a:latin typeface="+mj-lt"/>
              <a:ea typeface="+mj-ea"/>
              <a:cs typeface="+mj-cs"/>
            </a:endParaRPr>
          </a:p>
        </p:txBody>
      </p:sp>
      <p:cxnSp>
        <p:nvCxnSpPr>
          <p:cNvPr id="14" name="Straight Connector 12">
            <a:extLst>
              <a:ext uri="{FF2B5EF4-FFF2-40B4-BE49-F238E27FC236}">
                <a16:creationId xmlns:a16="http://schemas.microsoft.com/office/drawing/2014/main" id="{9A218DD6-0CC7-465B-B80F-747F97B4021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4059936" y="623740"/>
            <a:ext cx="0" cy="914400"/>
          </a:xfrm>
          <a:prstGeom prst="line">
            <a:avLst/>
          </a:prstGeom>
          <a:ln w="19050">
            <a:solidFill>
              <a:schemeClr val="bg1">
                <a:alpha val="80000"/>
              </a:schemeClr>
            </a:solidFill>
          </a:ln>
        </p:spPr>
        <p:style>
          <a:lnRef idx="1">
            <a:schemeClr val="accent1"/>
          </a:lnRef>
          <a:fillRef idx="0">
            <a:schemeClr val="accent1"/>
          </a:fillRef>
          <a:effectRef idx="0">
            <a:schemeClr val="accent1"/>
          </a:effectRef>
          <a:fontRef idx="minor">
            <a:schemeClr val="tx1"/>
          </a:fontRef>
        </p:style>
      </p:cxnSp>
      <p:graphicFrame>
        <p:nvGraphicFramePr>
          <p:cNvPr id="7" name="Table 6">
            <a:extLst>
              <a:ext uri="{FF2B5EF4-FFF2-40B4-BE49-F238E27FC236}">
                <a16:creationId xmlns:a16="http://schemas.microsoft.com/office/drawing/2014/main" id="{93D7CF71-68BC-416C-8B84-1B886994433D}"/>
              </a:ext>
            </a:extLst>
          </p:cNvPr>
          <p:cNvGraphicFramePr>
            <a:graphicFrameLocks noGrp="1"/>
          </p:cNvGraphicFramePr>
          <p:nvPr>
            <p:extLst>
              <p:ext uri="{D42A27DB-BD31-4B8C-83A1-F6EECF244321}">
                <p14:modId xmlns:p14="http://schemas.microsoft.com/office/powerpoint/2010/main" val="3903772503"/>
              </p:ext>
            </p:extLst>
          </p:nvPr>
        </p:nvGraphicFramePr>
        <p:xfrm>
          <a:off x="806498" y="2691477"/>
          <a:ext cx="6899228" cy="3914849"/>
        </p:xfrm>
        <a:graphic>
          <a:graphicData uri="http://schemas.openxmlformats.org/drawingml/2006/table">
            <a:tbl>
              <a:tblPr firstRow="1" bandRow="1">
                <a:noFill/>
                <a:tableStyleId>{5C22544A-7EE6-4342-B048-85BDC9FD1C3A}</a:tableStyleId>
              </a:tblPr>
              <a:tblGrid>
                <a:gridCol w="2233664">
                  <a:extLst>
                    <a:ext uri="{9D8B030D-6E8A-4147-A177-3AD203B41FA5}">
                      <a16:colId xmlns:a16="http://schemas.microsoft.com/office/drawing/2014/main" val="3297147965"/>
                    </a:ext>
                  </a:extLst>
                </a:gridCol>
                <a:gridCol w="1832614">
                  <a:extLst>
                    <a:ext uri="{9D8B030D-6E8A-4147-A177-3AD203B41FA5}">
                      <a16:colId xmlns:a16="http://schemas.microsoft.com/office/drawing/2014/main" val="190754280"/>
                    </a:ext>
                  </a:extLst>
                </a:gridCol>
                <a:gridCol w="1335036">
                  <a:extLst>
                    <a:ext uri="{9D8B030D-6E8A-4147-A177-3AD203B41FA5}">
                      <a16:colId xmlns:a16="http://schemas.microsoft.com/office/drawing/2014/main" val="2890777380"/>
                    </a:ext>
                  </a:extLst>
                </a:gridCol>
                <a:gridCol w="1497914">
                  <a:extLst>
                    <a:ext uri="{9D8B030D-6E8A-4147-A177-3AD203B41FA5}">
                      <a16:colId xmlns:a16="http://schemas.microsoft.com/office/drawing/2014/main" val="3123513841"/>
                    </a:ext>
                  </a:extLst>
                </a:gridCol>
              </a:tblGrid>
              <a:tr h="1122983">
                <a:tc>
                  <a:txBody>
                    <a:bodyPr/>
                    <a:lstStyle/>
                    <a:p>
                      <a:pPr algn="ctr"/>
                      <a:r>
                        <a:rPr lang="en-CA" sz="1900" b="1" dirty="0">
                          <a:solidFill>
                            <a:schemeClr val="tx1">
                              <a:lumMod val="75000"/>
                              <a:lumOff val="25000"/>
                            </a:schemeClr>
                          </a:solidFill>
                        </a:rPr>
                        <a:t>Models</a:t>
                      </a:r>
                    </a:p>
                  </a:txBody>
                  <a:tcPr marL="243754" marR="121878" marT="121878" marB="121878">
                    <a:lnL w="12700" cmpd="sng">
                      <a:noFill/>
                      <a:prstDash val="solid"/>
                    </a:lnL>
                    <a:lnR w="12700" cmpd="sng">
                      <a:noFill/>
                      <a:prstDash val="solid"/>
                    </a:lnR>
                    <a:lnT w="12700" cmpd="sng">
                      <a:noFill/>
                      <a:prstDash val="solid"/>
                    </a:lnT>
                    <a:lnB w="9525" cap="flat" cmpd="sng" algn="ctr">
                      <a:solidFill>
                        <a:srgbClr val="D8DCDC"/>
                      </a:solidFill>
                      <a:prstDash val="solid"/>
                    </a:lnB>
                    <a:noFill/>
                  </a:tcPr>
                </a:tc>
                <a:tc>
                  <a:txBody>
                    <a:bodyPr/>
                    <a:lstStyle/>
                    <a:p>
                      <a:pPr algn="ctr"/>
                      <a:r>
                        <a:rPr lang="en-CA" sz="1900" b="1" dirty="0">
                          <a:solidFill>
                            <a:schemeClr val="tx1">
                              <a:lumMod val="75000"/>
                              <a:lumOff val="25000"/>
                            </a:schemeClr>
                          </a:solidFill>
                        </a:rPr>
                        <a:t>Framework</a:t>
                      </a:r>
                    </a:p>
                  </a:txBody>
                  <a:tcPr marL="243754" marR="121878" marT="121878" marB="121878">
                    <a:lnL w="12700" cmpd="sng">
                      <a:noFill/>
                      <a:prstDash val="solid"/>
                    </a:lnL>
                    <a:lnR w="12700" cmpd="sng">
                      <a:noFill/>
                      <a:prstDash val="solid"/>
                    </a:lnR>
                    <a:lnT w="12700" cmpd="sng">
                      <a:noFill/>
                      <a:prstDash val="solid"/>
                    </a:lnT>
                    <a:lnB w="9525" cap="flat" cmpd="sng" algn="ctr">
                      <a:solidFill>
                        <a:srgbClr val="D8DCDC"/>
                      </a:solidFill>
                      <a:prstDash val="solid"/>
                    </a:lnB>
                    <a:noFill/>
                  </a:tcPr>
                </a:tc>
                <a:tc>
                  <a:txBody>
                    <a:bodyPr/>
                    <a:lstStyle/>
                    <a:p>
                      <a:pPr algn="ctr"/>
                      <a:r>
                        <a:rPr lang="en-CA" sz="1900" b="1" dirty="0">
                          <a:solidFill>
                            <a:schemeClr val="tx1">
                              <a:lumMod val="75000"/>
                              <a:lumOff val="25000"/>
                            </a:schemeClr>
                          </a:solidFill>
                        </a:rPr>
                        <a:t>Frame Rate (On system)</a:t>
                      </a:r>
                    </a:p>
                  </a:txBody>
                  <a:tcPr marL="243754" marR="121878" marT="121878" marB="121878">
                    <a:lnL w="12700" cmpd="sng">
                      <a:noFill/>
                      <a:prstDash val="solid"/>
                    </a:lnL>
                    <a:lnR w="12700" cmpd="sng">
                      <a:noFill/>
                      <a:prstDash val="solid"/>
                    </a:lnR>
                    <a:lnT w="12700" cmpd="sng">
                      <a:noFill/>
                      <a:prstDash val="solid"/>
                    </a:lnT>
                    <a:lnB w="9525" cap="flat" cmpd="sng" algn="ctr">
                      <a:solidFill>
                        <a:srgbClr val="D8DCDC"/>
                      </a:solidFill>
                      <a:prstDash val="solid"/>
                    </a:lnB>
                    <a:noFill/>
                  </a:tcPr>
                </a:tc>
                <a:tc>
                  <a:txBody>
                    <a:bodyPr/>
                    <a:lstStyle/>
                    <a:p>
                      <a:pPr algn="ctr"/>
                      <a:r>
                        <a:rPr lang="en-CA" sz="1900" b="1" dirty="0">
                          <a:solidFill>
                            <a:schemeClr val="tx1">
                              <a:lumMod val="75000"/>
                              <a:lumOff val="25000"/>
                            </a:schemeClr>
                          </a:solidFill>
                        </a:rPr>
                        <a:t>Frame Rate (Emulator)</a:t>
                      </a:r>
                    </a:p>
                  </a:txBody>
                  <a:tcPr marL="243754" marR="121878" marT="121878" marB="121878">
                    <a:lnL w="12700" cmpd="sng">
                      <a:noFill/>
                      <a:prstDash val="solid"/>
                    </a:lnL>
                    <a:lnR w="12700" cmpd="sng">
                      <a:noFill/>
                      <a:prstDash val="solid"/>
                    </a:lnR>
                    <a:lnT w="12700" cmpd="sng">
                      <a:noFill/>
                      <a:prstDash val="solid"/>
                    </a:lnT>
                    <a:lnB w="9525" cap="flat" cmpd="sng" algn="ctr">
                      <a:solidFill>
                        <a:srgbClr val="D8DCDC"/>
                      </a:solidFill>
                      <a:prstDash val="solid"/>
                    </a:lnB>
                    <a:noFill/>
                  </a:tcPr>
                </a:tc>
                <a:extLst>
                  <a:ext uri="{0D108BD9-81ED-4DB2-BD59-A6C34878D82A}">
                    <a16:rowId xmlns:a16="http://schemas.microsoft.com/office/drawing/2014/main" val="1156652218"/>
                  </a:ext>
                </a:extLst>
              </a:tr>
              <a:tr h="566994">
                <a:tc>
                  <a:txBody>
                    <a:bodyPr/>
                    <a:lstStyle/>
                    <a:p>
                      <a:pPr algn="ctr"/>
                      <a:r>
                        <a:rPr lang="en-CA" sz="1900" dirty="0">
                          <a:solidFill>
                            <a:schemeClr val="tx1">
                              <a:lumMod val="75000"/>
                              <a:lumOff val="25000"/>
                            </a:schemeClr>
                          </a:solidFill>
                        </a:rPr>
                        <a:t>Tiny </a:t>
                      </a:r>
                      <a:r>
                        <a:rPr lang="en-CA" sz="1900" dirty="0" err="1">
                          <a:solidFill>
                            <a:schemeClr val="tx1">
                              <a:lumMod val="75000"/>
                              <a:lumOff val="25000"/>
                            </a:schemeClr>
                          </a:solidFill>
                        </a:rPr>
                        <a:t>Yolo</a:t>
                      </a:r>
                      <a:endParaRPr lang="en-CA" sz="1900" dirty="0">
                        <a:solidFill>
                          <a:schemeClr val="tx1">
                            <a:lumMod val="75000"/>
                            <a:lumOff val="25000"/>
                          </a:schemeClr>
                        </a:solidFill>
                      </a:endParaRPr>
                    </a:p>
                  </a:txBody>
                  <a:tcPr marL="243754" marR="121878" marT="121878" marB="121878">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tc>
                  <a:txBody>
                    <a:bodyPr/>
                    <a:lstStyle/>
                    <a:p>
                      <a:pPr algn="ctr"/>
                      <a:r>
                        <a:rPr lang="en-CA" sz="1900" dirty="0">
                          <a:solidFill>
                            <a:schemeClr val="tx1">
                              <a:lumMod val="75000"/>
                              <a:lumOff val="25000"/>
                            </a:schemeClr>
                          </a:solidFill>
                        </a:rPr>
                        <a:t>Darknet</a:t>
                      </a:r>
                    </a:p>
                  </a:txBody>
                  <a:tcPr marL="243754" marR="121878" marT="121878" marB="121878">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tc>
                  <a:txBody>
                    <a:bodyPr/>
                    <a:lstStyle/>
                    <a:p>
                      <a:pPr algn="ctr"/>
                      <a:r>
                        <a:rPr lang="en-CA" sz="1900" dirty="0">
                          <a:solidFill>
                            <a:schemeClr val="tx1">
                              <a:lumMod val="75000"/>
                              <a:lumOff val="25000"/>
                            </a:schemeClr>
                          </a:solidFill>
                        </a:rPr>
                        <a:t>7</a:t>
                      </a:r>
                    </a:p>
                  </a:txBody>
                  <a:tcPr marL="243754" marR="121878" marT="121878" marB="121878">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tc>
                  <a:txBody>
                    <a:bodyPr/>
                    <a:lstStyle/>
                    <a:p>
                      <a:pPr algn="ctr"/>
                      <a:r>
                        <a:rPr lang="en-CA" sz="1900" dirty="0">
                          <a:solidFill>
                            <a:schemeClr val="tx1">
                              <a:lumMod val="75000"/>
                              <a:lumOff val="25000"/>
                            </a:schemeClr>
                          </a:solidFill>
                        </a:rPr>
                        <a:t>1-2</a:t>
                      </a:r>
                    </a:p>
                  </a:txBody>
                  <a:tcPr marL="243754" marR="121878" marT="121878" marB="121878">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extLst>
                  <a:ext uri="{0D108BD9-81ED-4DB2-BD59-A6C34878D82A}">
                    <a16:rowId xmlns:a16="http://schemas.microsoft.com/office/drawing/2014/main" val="3292000691"/>
                  </a:ext>
                </a:extLst>
              </a:tr>
              <a:tr h="844988">
                <a:tc>
                  <a:txBody>
                    <a:bodyPr/>
                    <a:lstStyle/>
                    <a:p>
                      <a:pPr algn="ctr"/>
                      <a:r>
                        <a:rPr lang="en-CA" sz="1900">
                          <a:solidFill>
                            <a:schemeClr val="tx1">
                              <a:lumMod val="75000"/>
                              <a:lumOff val="25000"/>
                            </a:schemeClr>
                          </a:solidFill>
                        </a:rPr>
                        <a:t>Faster-RCNN(Inception V2)</a:t>
                      </a:r>
                    </a:p>
                  </a:txBody>
                  <a:tcPr marL="243754" marR="121878" marT="121878" marB="121878">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tc>
                  <a:txBody>
                    <a:bodyPr/>
                    <a:lstStyle/>
                    <a:p>
                      <a:pPr algn="ctr"/>
                      <a:r>
                        <a:rPr lang="en-CA" sz="1900">
                          <a:solidFill>
                            <a:schemeClr val="tx1">
                              <a:lumMod val="75000"/>
                              <a:lumOff val="25000"/>
                            </a:schemeClr>
                          </a:solidFill>
                        </a:rPr>
                        <a:t>TensorFlow</a:t>
                      </a:r>
                    </a:p>
                  </a:txBody>
                  <a:tcPr marL="243754" marR="121878" marT="121878" marB="121878">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tc>
                  <a:txBody>
                    <a:bodyPr/>
                    <a:lstStyle/>
                    <a:p>
                      <a:pPr algn="ctr"/>
                      <a:r>
                        <a:rPr lang="en-CA" sz="1900">
                          <a:solidFill>
                            <a:schemeClr val="tx1">
                              <a:lumMod val="75000"/>
                              <a:lumOff val="25000"/>
                            </a:schemeClr>
                          </a:solidFill>
                        </a:rPr>
                        <a:t>0.8</a:t>
                      </a:r>
                    </a:p>
                  </a:txBody>
                  <a:tcPr marL="243754" marR="121878" marT="121878" marB="121878">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tc>
                  <a:txBody>
                    <a:bodyPr/>
                    <a:lstStyle/>
                    <a:p>
                      <a:pPr algn="ctr"/>
                      <a:r>
                        <a:rPr lang="en-CA" sz="1900">
                          <a:solidFill>
                            <a:schemeClr val="tx1">
                              <a:lumMod val="75000"/>
                              <a:lumOff val="25000"/>
                            </a:schemeClr>
                          </a:solidFill>
                        </a:rPr>
                        <a:t>-</a:t>
                      </a:r>
                    </a:p>
                  </a:txBody>
                  <a:tcPr marL="243754" marR="121878" marT="121878" marB="121878">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extLst>
                  <a:ext uri="{0D108BD9-81ED-4DB2-BD59-A6C34878D82A}">
                    <a16:rowId xmlns:a16="http://schemas.microsoft.com/office/drawing/2014/main" val="3732027448"/>
                  </a:ext>
                </a:extLst>
              </a:tr>
              <a:tr h="844988">
                <a:tc>
                  <a:txBody>
                    <a:bodyPr/>
                    <a:lstStyle/>
                    <a:p>
                      <a:pPr algn="ctr"/>
                      <a:r>
                        <a:rPr lang="en-CA" sz="1900" dirty="0">
                          <a:solidFill>
                            <a:schemeClr val="tx1">
                              <a:lumMod val="75000"/>
                              <a:lumOff val="25000"/>
                            </a:schemeClr>
                          </a:solidFill>
                        </a:rPr>
                        <a:t>SSD Lite </a:t>
                      </a:r>
                      <a:r>
                        <a:rPr lang="en-CA" sz="1900" dirty="0" err="1">
                          <a:solidFill>
                            <a:schemeClr val="tx1">
                              <a:lumMod val="75000"/>
                              <a:lumOff val="25000"/>
                            </a:schemeClr>
                          </a:solidFill>
                        </a:rPr>
                        <a:t>MobileNet</a:t>
                      </a:r>
                      <a:endParaRPr lang="en-CA" sz="1900" dirty="0">
                        <a:solidFill>
                          <a:schemeClr val="tx1">
                            <a:lumMod val="75000"/>
                            <a:lumOff val="25000"/>
                          </a:schemeClr>
                        </a:solidFill>
                      </a:endParaRPr>
                    </a:p>
                  </a:txBody>
                  <a:tcPr marL="243754" marR="121878" marT="121878" marB="121878">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tc>
                  <a:txBody>
                    <a:bodyPr/>
                    <a:lstStyle/>
                    <a:p>
                      <a:pPr algn="ctr"/>
                      <a:r>
                        <a:rPr lang="en-CA" sz="1900">
                          <a:solidFill>
                            <a:schemeClr val="tx1">
                              <a:lumMod val="75000"/>
                              <a:lumOff val="25000"/>
                            </a:schemeClr>
                          </a:solidFill>
                        </a:rPr>
                        <a:t>TensorFlow, TensorFlow Lite</a:t>
                      </a:r>
                    </a:p>
                  </a:txBody>
                  <a:tcPr marL="243754" marR="121878" marT="121878" marB="121878">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tc>
                  <a:txBody>
                    <a:bodyPr/>
                    <a:lstStyle/>
                    <a:p>
                      <a:pPr algn="ctr"/>
                      <a:r>
                        <a:rPr lang="en-CA" sz="1900">
                          <a:solidFill>
                            <a:schemeClr val="tx1">
                              <a:lumMod val="75000"/>
                              <a:lumOff val="25000"/>
                            </a:schemeClr>
                          </a:solidFill>
                        </a:rPr>
                        <a:t>8</a:t>
                      </a:r>
                    </a:p>
                  </a:txBody>
                  <a:tcPr marL="243754" marR="121878" marT="121878" marB="121878">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tc>
                  <a:txBody>
                    <a:bodyPr/>
                    <a:lstStyle/>
                    <a:p>
                      <a:pPr algn="ctr"/>
                      <a:r>
                        <a:rPr lang="en-CA" sz="1900" dirty="0">
                          <a:solidFill>
                            <a:schemeClr val="tx1">
                              <a:lumMod val="75000"/>
                              <a:lumOff val="25000"/>
                            </a:schemeClr>
                          </a:solidFill>
                        </a:rPr>
                        <a:t>2</a:t>
                      </a:r>
                    </a:p>
                  </a:txBody>
                  <a:tcPr marL="243754" marR="121878" marT="121878" marB="121878">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extLst>
                  <a:ext uri="{0D108BD9-81ED-4DB2-BD59-A6C34878D82A}">
                    <a16:rowId xmlns:a16="http://schemas.microsoft.com/office/drawing/2014/main" val="2503134702"/>
                  </a:ext>
                </a:extLst>
              </a:tr>
            </a:tbl>
          </a:graphicData>
        </a:graphic>
      </p:graphicFrame>
      <p:sp>
        <p:nvSpPr>
          <p:cNvPr id="4" name="TextBox 3">
            <a:extLst>
              <a:ext uri="{FF2B5EF4-FFF2-40B4-BE49-F238E27FC236}">
                <a16:creationId xmlns:a16="http://schemas.microsoft.com/office/drawing/2014/main" id="{9A9146AF-B2B0-4A9D-8803-E9CDDA59B070}"/>
              </a:ext>
            </a:extLst>
          </p:cNvPr>
          <p:cNvSpPr txBox="1"/>
          <p:nvPr/>
        </p:nvSpPr>
        <p:spPr>
          <a:xfrm>
            <a:off x="8486775" y="2200275"/>
            <a:ext cx="3583686" cy="3182410"/>
          </a:xfrm>
          <a:prstGeom prst="rect">
            <a:avLst/>
          </a:prstGeom>
          <a:noFill/>
        </p:spPr>
        <p:txBody>
          <a:bodyPr wrap="square" rtlCol="0">
            <a:spAutoFit/>
          </a:bodyPr>
          <a:lstStyle/>
          <a:p>
            <a:pPr>
              <a:lnSpc>
                <a:spcPct val="90000"/>
              </a:lnSpc>
              <a:spcAft>
                <a:spcPts val="600"/>
              </a:spcAft>
            </a:pPr>
            <a:r>
              <a:rPr lang="en-US" sz="2400" b="1" dirty="0"/>
              <a:t>Accuracy:</a:t>
            </a:r>
          </a:p>
          <a:p>
            <a:pPr>
              <a:lnSpc>
                <a:spcPct val="90000"/>
              </a:lnSpc>
              <a:spcAft>
                <a:spcPts val="600"/>
              </a:spcAft>
            </a:pPr>
            <a:r>
              <a:rPr lang="en-US" sz="2400" dirty="0"/>
              <a:t>As per the Literature, Faster RCNNs are the most accurate followed by SSD and then Tiny-Yolo. The Results were verified during implementation Phase.</a:t>
            </a:r>
          </a:p>
          <a:p>
            <a:endParaRPr lang="en-CA" dirty="0"/>
          </a:p>
        </p:txBody>
      </p:sp>
      <p:sp>
        <p:nvSpPr>
          <p:cNvPr id="5" name="TextBox 4">
            <a:extLst>
              <a:ext uri="{FF2B5EF4-FFF2-40B4-BE49-F238E27FC236}">
                <a16:creationId xmlns:a16="http://schemas.microsoft.com/office/drawing/2014/main" id="{71F46766-EF90-41B2-8C68-AE98A8EC9341}"/>
              </a:ext>
            </a:extLst>
          </p:cNvPr>
          <p:cNvSpPr txBox="1"/>
          <p:nvPr/>
        </p:nvSpPr>
        <p:spPr>
          <a:xfrm>
            <a:off x="790575" y="2200275"/>
            <a:ext cx="2686050" cy="461665"/>
          </a:xfrm>
          <a:prstGeom prst="rect">
            <a:avLst/>
          </a:prstGeom>
          <a:noFill/>
        </p:spPr>
        <p:txBody>
          <a:bodyPr wrap="square" rtlCol="0">
            <a:spAutoFit/>
          </a:bodyPr>
          <a:lstStyle/>
          <a:p>
            <a:r>
              <a:rPr lang="en-CA" sz="2400" b="1" dirty="0"/>
              <a:t>Speed:</a:t>
            </a:r>
          </a:p>
        </p:txBody>
      </p:sp>
    </p:spTree>
    <p:extLst>
      <p:ext uri="{BB962C8B-B14F-4D97-AF65-F5344CB8AC3E}">
        <p14:creationId xmlns:p14="http://schemas.microsoft.com/office/powerpoint/2010/main" val="14725589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D70B121-56F4-4848-B38B-182089D909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tx1">
              <a:alpha val="8000"/>
            </a:schemeClr>
          </a:solidFill>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F7A22B5-5208-400E-B3C7-75C396E3F400}"/>
              </a:ext>
            </a:extLst>
          </p:cNvPr>
          <p:cNvSpPr>
            <a:spLocks noGrp="1"/>
          </p:cNvSpPr>
          <p:nvPr>
            <p:ph type="title"/>
          </p:nvPr>
        </p:nvSpPr>
        <p:spPr>
          <a:xfrm>
            <a:off x="1181108" y="963877"/>
            <a:ext cx="3400418" cy="4930246"/>
          </a:xfrm>
        </p:spPr>
        <p:txBody>
          <a:bodyPr>
            <a:normAutofit/>
          </a:bodyPr>
          <a:lstStyle/>
          <a:p>
            <a:r>
              <a:rPr lang="en-IN" b="1" dirty="0">
                <a:solidFill>
                  <a:schemeClr val="accent1"/>
                </a:solidFill>
              </a:rPr>
              <a:t>Detection Capabilities</a:t>
            </a:r>
          </a:p>
        </p:txBody>
      </p:sp>
      <p:cxnSp>
        <p:nvCxnSpPr>
          <p:cNvPr id="10" name="Straight Connector 9">
            <a:extLst>
              <a:ext uri="{FF2B5EF4-FFF2-40B4-BE49-F238E27FC236}">
                <a16:creationId xmlns:a16="http://schemas.microsoft.com/office/drawing/2014/main" id="{2D72A2C9-F3CA-4216-8BAD-FA4C970C3C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2057400"/>
            <a:ext cx="0" cy="274320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A1173796-32FE-4ABD-9805-7E939A021D4C}"/>
              </a:ext>
            </a:extLst>
          </p:cNvPr>
          <p:cNvSpPr>
            <a:spLocks noGrp="1"/>
          </p:cNvSpPr>
          <p:nvPr>
            <p:ph idx="1"/>
          </p:nvPr>
        </p:nvSpPr>
        <p:spPr>
          <a:xfrm>
            <a:off x="4976031" y="963877"/>
            <a:ext cx="6377769" cy="4930246"/>
          </a:xfrm>
        </p:spPr>
        <p:txBody>
          <a:bodyPr anchor="ctr">
            <a:normAutofit lnSpcReduction="10000"/>
          </a:bodyPr>
          <a:lstStyle/>
          <a:p>
            <a:r>
              <a:rPr lang="en-IN" sz="2400" dirty="0"/>
              <a:t>Model can detect up to 80 classes of COCO dataset:</a:t>
            </a:r>
          </a:p>
          <a:p>
            <a:pPr marL="914400" lvl="1" indent="-457200">
              <a:buFont typeface="+mj-lt"/>
              <a:buAutoNum type="alphaLcPeriod"/>
            </a:pPr>
            <a:r>
              <a:rPr lang="en-IN" dirty="0"/>
              <a:t>Person, Bicycle, Car, Motorcycle, Bus, Truck,  Boat, Traffic Light, Bird etc. </a:t>
            </a:r>
          </a:p>
          <a:p>
            <a:pPr marL="914400" lvl="1" indent="-457200">
              <a:buFont typeface="+mj-lt"/>
              <a:buAutoNum type="alphaLcPeriod"/>
            </a:pPr>
            <a:r>
              <a:rPr lang="en-IN" dirty="0"/>
              <a:t>Animals : Bird, Cat, Dog, Horse, Sheep, Cow etc.</a:t>
            </a:r>
          </a:p>
          <a:p>
            <a:pPr marL="914400" lvl="1" indent="-457200">
              <a:buFont typeface="+mj-lt"/>
              <a:buAutoNum type="alphaLcPeriod"/>
            </a:pPr>
            <a:r>
              <a:rPr lang="en-IN" dirty="0"/>
              <a:t>Objects: Umbrella, Suitcase, Surfboard</a:t>
            </a:r>
          </a:p>
          <a:p>
            <a:pPr marL="457200" lvl="1" indent="0">
              <a:buNone/>
            </a:pPr>
            <a:endParaRPr lang="en-IN" dirty="0"/>
          </a:p>
          <a:p>
            <a:pPr marL="457200" lvl="1" indent="0">
              <a:buNone/>
            </a:pPr>
            <a:r>
              <a:rPr lang="en-IN" dirty="0"/>
              <a:t>And many more….</a:t>
            </a:r>
          </a:p>
          <a:p>
            <a:pPr marL="0" indent="0">
              <a:buNone/>
            </a:pPr>
            <a:endParaRPr lang="en-IN" sz="2400" dirty="0"/>
          </a:p>
          <a:p>
            <a:r>
              <a:rPr lang="en-US" sz="2400" dirty="0">
                <a:cs typeface="Calibri" panose="020F0502020204030204"/>
              </a:rPr>
              <a:t>Network is further trainable, and any new object class can be added using Transfer Learning.</a:t>
            </a:r>
          </a:p>
        </p:txBody>
      </p:sp>
    </p:spTree>
    <p:extLst>
      <p:ext uri="{BB962C8B-B14F-4D97-AF65-F5344CB8AC3E}">
        <p14:creationId xmlns:p14="http://schemas.microsoft.com/office/powerpoint/2010/main" val="14460260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D70B121-56F4-4848-B38B-182089D909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tx1">
              <a:alpha val="8000"/>
            </a:schemeClr>
          </a:solidFill>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A988355-F3BC-4E76-9370-364C22BF5A05}"/>
              </a:ext>
            </a:extLst>
          </p:cNvPr>
          <p:cNvSpPr>
            <a:spLocks noGrp="1"/>
          </p:cNvSpPr>
          <p:nvPr>
            <p:ph type="title"/>
          </p:nvPr>
        </p:nvSpPr>
        <p:spPr>
          <a:xfrm>
            <a:off x="838200" y="963877"/>
            <a:ext cx="3494362" cy="4930246"/>
          </a:xfrm>
        </p:spPr>
        <p:txBody>
          <a:bodyPr>
            <a:normAutofit/>
          </a:bodyPr>
          <a:lstStyle/>
          <a:p>
            <a:r>
              <a:rPr lang="en-IN" b="1" dirty="0">
                <a:solidFill>
                  <a:schemeClr val="accent1"/>
                </a:solidFill>
              </a:rPr>
              <a:t>Conclusions</a:t>
            </a:r>
          </a:p>
        </p:txBody>
      </p:sp>
      <p:cxnSp>
        <p:nvCxnSpPr>
          <p:cNvPr id="10" name="Straight Connector 9">
            <a:extLst>
              <a:ext uri="{FF2B5EF4-FFF2-40B4-BE49-F238E27FC236}">
                <a16:creationId xmlns:a16="http://schemas.microsoft.com/office/drawing/2014/main" id="{2D72A2C9-F3CA-4216-8BAD-FA4C970C3C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2057400"/>
            <a:ext cx="0" cy="274320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A6287E39-663F-4864-BF85-A4878155F67B}"/>
              </a:ext>
            </a:extLst>
          </p:cNvPr>
          <p:cNvSpPr>
            <a:spLocks noGrp="1"/>
          </p:cNvSpPr>
          <p:nvPr>
            <p:ph idx="1"/>
          </p:nvPr>
        </p:nvSpPr>
        <p:spPr>
          <a:xfrm>
            <a:off x="4976031" y="963877"/>
            <a:ext cx="6377769" cy="4930246"/>
          </a:xfrm>
        </p:spPr>
        <p:txBody>
          <a:bodyPr anchor="ctr">
            <a:normAutofit/>
          </a:bodyPr>
          <a:lstStyle/>
          <a:p>
            <a:endParaRPr lang="en-IN" sz="2400"/>
          </a:p>
          <a:p>
            <a:r>
              <a:rPr lang="en-IN" sz="2400"/>
              <a:t>SSD Lite </a:t>
            </a:r>
            <a:r>
              <a:rPr lang="en-IN" sz="2400" err="1"/>
              <a:t>MobileNet</a:t>
            </a:r>
            <a:r>
              <a:rPr lang="en-IN" sz="2400"/>
              <a:t> is better in accuracy than Tiny YOLO. However, for speed the Lite version of SSD offers same speed as Tiny-</a:t>
            </a:r>
            <a:r>
              <a:rPr lang="en-IN" sz="2400" err="1"/>
              <a:t>Yolo</a:t>
            </a:r>
            <a:r>
              <a:rPr lang="en-IN" sz="2400"/>
              <a:t>.</a:t>
            </a:r>
          </a:p>
          <a:p>
            <a:r>
              <a:rPr lang="en-IN" sz="2400"/>
              <a:t>SSD Lite </a:t>
            </a:r>
            <a:r>
              <a:rPr lang="en-IN" sz="2400" err="1"/>
              <a:t>MobileNet</a:t>
            </a:r>
            <a:r>
              <a:rPr lang="en-IN" sz="2400"/>
              <a:t> is selected as a Pedestrian Detection Model.</a:t>
            </a:r>
          </a:p>
          <a:p>
            <a:r>
              <a:rPr lang="en-IN" sz="2400"/>
              <a:t>The Frame Rate of any Object Detection Model has dependency on the underlying Hardware(specifically GPU). Hence, hardware creates a bottleneck in the performance of overall  Pedestrian Detection System.</a:t>
            </a:r>
          </a:p>
          <a:p>
            <a:r>
              <a:rPr lang="en-IN" sz="2400"/>
              <a:t>Hardware Selection depends on the accepted frame rate for a particular application.</a:t>
            </a:r>
          </a:p>
        </p:txBody>
      </p:sp>
    </p:spTree>
    <p:extLst>
      <p:ext uri="{BB962C8B-B14F-4D97-AF65-F5344CB8AC3E}">
        <p14:creationId xmlns:p14="http://schemas.microsoft.com/office/powerpoint/2010/main" val="40279874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D70B121-56F4-4848-B38B-182089D909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tx1">
              <a:alpha val="8000"/>
            </a:schemeClr>
          </a:solidFill>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3F6A111-3A40-4249-B593-115BA43D487E}"/>
              </a:ext>
            </a:extLst>
          </p:cNvPr>
          <p:cNvSpPr>
            <a:spLocks noGrp="1"/>
          </p:cNvSpPr>
          <p:nvPr>
            <p:ph type="title"/>
          </p:nvPr>
        </p:nvSpPr>
        <p:spPr>
          <a:xfrm>
            <a:off x="838200" y="963877"/>
            <a:ext cx="3494362" cy="4930246"/>
          </a:xfrm>
        </p:spPr>
        <p:txBody>
          <a:bodyPr>
            <a:normAutofit/>
          </a:bodyPr>
          <a:lstStyle/>
          <a:p>
            <a:pPr algn="r"/>
            <a:r>
              <a:rPr lang="en-CA" dirty="0">
                <a:solidFill>
                  <a:schemeClr val="accent1"/>
                </a:solidFill>
              </a:rPr>
              <a:t>What’s Next?</a:t>
            </a:r>
          </a:p>
        </p:txBody>
      </p:sp>
      <p:cxnSp>
        <p:nvCxnSpPr>
          <p:cNvPr id="10" name="Straight Connector 9">
            <a:extLst>
              <a:ext uri="{FF2B5EF4-FFF2-40B4-BE49-F238E27FC236}">
                <a16:creationId xmlns:a16="http://schemas.microsoft.com/office/drawing/2014/main" id="{2D72A2C9-F3CA-4216-8BAD-FA4C970C3C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2057400"/>
            <a:ext cx="0" cy="274320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B94D85C5-288A-41B6-A936-3C435BA2E3C3}"/>
              </a:ext>
            </a:extLst>
          </p:cNvPr>
          <p:cNvSpPr>
            <a:spLocks noGrp="1"/>
          </p:cNvSpPr>
          <p:nvPr>
            <p:ph idx="1"/>
          </p:nvPr>
        </p:nvSpPr>
        <p:spPr>
          <a:xfrm>
            <a:off x="4976031" y="963877"/>
            <a:ext cx="6377769" cy="4930246"/>
          </a:xfrm>
        </p:spPr>
        <p:txBody>
          <a:bodyPr anchor="ctr">
            <a:normAutofit/>
          </a:bodyPr>
          <a:lstStyle/>
          <a:p>
            <a:r>
              <a:rPr lang="en-CA" sz="2400"/>
              <a:t>Specify ROI in the frame to improve speed.</a:t>
            </a:r>
          </a:p>
          <a:p>
            <a:r>
              <a:rPr lang="en-CA" sz="2400"/>
              <a:t>Outdoor Testing of Models using live feed.</a:t>
            </a:r>
          </a:p>
          <a:p>
            <a:r>
              <a:rPr lang="en-CA" sz="2400"/>
              <a:t>Work on night scenes.</a:t>
            </a:r>
          </a:p>
          <a:p>
            <a:r>
              <a:rPr lang="en-CA" sz="2400"/>
              <a:t>Integrate the finished components</a:t>
            </a:r>
          </a:p>
        </p:txBody>
      </p:sp>
    </p:spTree>
    <p:extLst>
      <p:ext uri="{BB962C8B-B14F-4D97-AF65-F5344CB8AC3E}">
        <p14:creationId xmlns:p14="http://schemas.microsoft.com/office/powerpoint/2010/main" val="18765708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F6517B1-BE26-4F7C-B656-99327658E543}"/>
              </a:ext>
            </a:extLst>
          </p:cNvPr>
          <p:cNvPicPr>
            <a:picLocks noChangeAspect="1"/>
          </p:cNvPicPr>
          <p:nvPr/>
        </p:nvPicPr>
        <p:blipFill rotWithShape="1">
          <a:blip r:embed="rId2">
            <a:duotone>
              <a:schemeClr val="bg2">
                <a:shade val="45000"/>
                <a:satMod val="135000"/>
              </a:schemeClr>
              <a:prstClr val="white"/>
            </a:duotone>
          </a:blip>
          <a:srcRect t="32907" r="9091" b="466"/>
          <a:stretch/>
        </p:blipFill>
        <p:spPr>
          <a:xfrm>
            <a:off x="20" y="1"/>
            <a:ext cx="12191980" cy="6857999"/>
          </a:xfrm>
          <a:prstGeom prst="rect">
            <a:avLst/>
          </a:prstGeom>
        </p:spPr>
      </p:pic>
      <p:sp>
        <p:nvSpPr>
          <p:cNvPr id="29" name="Rectangle 16">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A988355-F3BC-4E76-9370-364C22BF5A05}"/>
              </a:ext>
            </a:extLst>
          </p:cNvPr>
          <p:cNvSpPr>
            <a:spLocks noGrp="1"/>
          </p:cNvSpPr>
          <p:nvPr>
            <p:ph type="title"/>
          </p:nvPr>
        </p:nvSpPr>
        <p:spPr>
          <a:xfrm>
            <a:off x="838200" y="365125"/>
            <a:ext cx="10515600" cy="1325563"/>
          </a:xfrm>
        </p:spPr>
        <p:txBody>
          <a:bodyPr>
            <a:normAutofit/>
          </a:bodyPr>
          <a:lstStyle/>
          <a:p>
            <a:r>
              <a:rPr lang="en-IN" b="1"/>
              <a:t>Queries</a:t>
            </a:r>
          </a:p>
        </p:txBody>
      </p:sp>
      <p:graphicFrame>
        <p:nvGraphicFramePr>
          <p:cNvPr id="5" name="Content Placeholder 2">
            <a:extLst>
              <a:ext uri="{FF2B5EF4-FFF2-40B4-BE49-F238E27FC236}">
                <a16:creationId xmlns:a16="http://schemas.microsoft.com/office/drawing/2014/main" id="{B017AD6B-E211-47D0-88CA-34BA42B0159A}"/>
              </a:ext>
            </a:extLst>
          </p:cNvPr>
          <p:cNvGraphicFramePr>
            <a:graphicFrameLocks noGrp="1"/>
          </p:cNvGraphicFramePr>
          <p:nvPr>
            <p:ph idx="1"/>
            <p:extLst>
              <p:ext uri="{D42A27DB-BD31-4B8C-83A1-F6EECF244321}">
                <p14:modId xmlns:p14="http://schemas.microsoft.com/office/powerpoint/2010/main" val="3979812399"/>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5930920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6">
            <a:extLst>
              <a:ext uri="{FF2B5EF4-FFF2-40B4-BE49-F238E27FC236}">
                <a16:creationId xmlns:a16="http://schemas.microsoft.com/office/drawing/2014/main" id="{6F9EB9F2-07E2-4D64-BBD8-BB5B217F1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tx1">
              <a:alpha val="12000"/>
            </a:schemeClr>
          </a:solidFill>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3F6A111-3A40-4249-B593-115BA43D487E}"/>
              </a:ext>
            </a:extLst>
          </p:cNvPr>
          <p:cNvSpPr>
            <a:spLocks noGrp="1"/>
          </p:cNvSpPr>
          <p:nvPr>
            <p:ph type="title"/>
          </p:nvPr>
        </p:nvSpPr>
        <p:spPr>
          <a:xfrm>
            <a:off x="4380588" y="965199"/>
            <a:ext cx="6766078" cy="4927601"/>
          </a:xfrm>
        </p:spPr>
        <p:txBody>
          <a:bodyPr vert="horz" lIns="91440" tIns="45720" rIns="91440" bIns="45720" rtlCol="0" anchor="ctr">
            <a:normAutofit/>
          </a:bodyPr>
          <a:lstStyle/>
          <a:p>
            <a:r>
              <a:rPr lang="en-US" sz="5400" kern="1200">
                <a:solidFill>
                  <a:schemeClr val="tx1">
                    <a:lumMod val="85000"/>
                    <a:lumOff val="15000"/>
                  </a:schemeClr>
                </a:solidFill>
                <a:latin typeface="+mj-lt"/>
                <a:ea typeface="+mj-ea"/>
                <a:cs typeface="+mj-cs"/>
              </a:rPr>
              <a:t>Thank You!</a:t>
            </a:r>
          </a:p>
        </p:txBody>
      </p:sp>
      <p:cxnSp>
        <p:nvCxnSpPr>
          <p:cNvPr id="19" name="Straight Connector 8">
            <a:extLst>
              <a:ext uri="{FF2B5EF4-FFF2-40B4-BE49-F238E27FC236}">
                <a16:creationId xmlns:a16="http://schemas.microsoft.com/office/drawing/2014/main" id="{F0C57C7C-DFE9-4A1E-B7A9-DF40E63366B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55891" y="2057399"/>
            <a:ext cx="0" cy="274320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140453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CA58F261202C947A85ABE95A5312016" ma:contentTypeVersion="11" ma:contentTypeDescription="Create a new document." ma:contentTypeScope="" ma:versionID="a639042913b5adb9300e639359024ccb">
  <xsd:schema xmlns:xsd="http://www.w3.org/2001/XMLSchema" xmlns:xs="http://www.w3.org/2001/XMLSchema" xmlns:p="http://schemas.microsoft.com/office/2006/metadata/properties" xmlns:ns3="97a5cae0-082b-4ce2-b6dd-f4e659e6d106" xmlns:ns4="6b4ee8b9-1789-4a1a-b12b-cda6c73a5446" targetNamespace="http://schemas.microsoft.com/office/2006/metadata/properties" ma:root="true" ma:fieldsID="7820bcbcf978926d627eefca929354d7" ns3:_="" ns4:_="">
    <xsd:import namespace="97a5cae0-082b-4ce2-b6dd-f4e659e6d106"/>
    <xsd:import namespace="6b4ee8b9-1789-4a1a-b12b-cda6c73a5446"/>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Tags" minOccurs="0"/>
                <xsd:element ref="ns4:MediaServiceGenerationTime" minOccurs="0"/>
                <xsd:element ref="ns4:MediaServiceEventHashCode" minOccurs="0"/>
                <xsd:element ref="ns4:MediaServiceAutoKeyPoints" minOccurs="0"/>
                <xsd:element ref="ns4:MediaServiceKeyPoints" minOccurs="0"/>
                <xsd:element ref="ns4: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7a5cae0-082b-4ce2-b6dd-f4e659e6d106"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b4ee8b9-1789-4a1a-b12b-cda6c73a5446"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B57695D-401F-4BCD-97F8-317A1C660383}">
  <ds:schemaRefs>
    <ds:schemaRef ds:uri="http://schemas.openxmlformats.org/package/2006/metadata/core-properties"/>
    <ds:schemaRef ds:uri="http://purl.org/dc/elements/1.1/"/>
    <ds:schemaRef ds:uri="http://purl.org/dc/dcmitype/"/>
    <ds:schemaRef ds:uri="97a5cae0-082b-4ce2-b6dd-f4e659e6d106"/>
    <ds:schemaRef ds:uri="http://schemas.microsoft.com/office/2006/metadata/properties"/>
    <ds:schemaRef ds:uri="http://schemas.microsoft.com/office/infopath/2007/PartnerControls"/>
    <ds:schemaRef ds:uri="http://purl.org/dc/terms/"/>
    <ds:schemaRef ds:uri="http://schemas.microsoft.com/office/2006/documentManagement/types"/>
    <ds:schemaRef ds:uri="6b4ee8b9-1789-4a1a-b12b-cda6c73a5446"/>
    <ds:schemaRef ds:uri="http://www.w3.org/XML/1998/namespace"/>
  </ds:schemaRefs>
</ds:datastoreItem>
</file>

<file path=customXml/itemProps2.xml><?xml version="1.0" encoding="utf-8"?>
<ds:datastoreItem xmlns:ds="http://schemas.openxmlformats.org/officeDocument/2006/customXml" ds:itemID="{38315FA4-4077-4C96-8CB9-8685A209837B}">
  <ds:schemaRefs>
    <ds:schemaRef ds:uri="http://schemas.microsoft.com/sharepoint/v3/contenttype/forms"/>
  </ds:schemaRefs>
</ds:datastoreItem>
</file>

<file path=customXml/itemProps3.xml><?xml version="1.0" encoding="utf-8"?>
<ds:datastoreItem xmlns:ds="http://schemas.openxmlformats.org/officeDocument/2006/customXml" ds:itemID="{FE7F421E-F3FA-4AB3-8931-FA7481A5EB8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7a5cae0-082b-4ce2-b6dd-f4e659e6d106"/>
    <ds:schemaRef ds:uri="6b4ee8b9-1789-4a1a-b12b-cda6c73a544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0</TotalTime>
  <Words>946</Words>
  <Application>Microsoft Office PowerPoint</Application>
  <PresentationFormat>Widescreen</PresentationFormat>
  <Paragraphs>140</Paragraphs>
  <Slides>18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Calibri Light</vt:lpstr>
      <vt:lpstr>Office Theme</vt:lpstr>
      <vt:lpstr>A Real-Time Pedestrian Detection and Tracking System for Intelligent Vehicles</vt:lpstr>
      <vt:lpstr>Contents</vt:lpstr>
      <vt:lpstr>Classification Vs Object Detection</vt:lpstr>
      <vt:lpstr>Models Explored</vt:lpstr>
      <vt:lpstr>1) R-CNN</vt:lpstr>
      <vt:lpstr>2) Fast R-CNN</vt:lpstr>
      <vt:lpstr>3) Faster R-CNN</vt:lpstr>
      <vt:lpstr>PowerPoint Presentation</vt:lpstr>
      <vt:lpstr>4) Tiny YOLO</vt:lpstr>
      <vt:lpstr>5) Single Shot Detectors (SSD)</vt:lpstr>
      <vt:lpstr>SSD MobileNet</vt:lpstr>
      <vt:lpstr>Experimental Setup</vt:lpstr>
      <vt:lpstr>Results</vt:lpstr>
      <vt:lpstr>Detection Capabilities</vt:lpstr>
      <vt:lpstr>Conclusions</vt:lpstr>
      <vt:lpstr>What’s Next?</vt:lpstr>
      <vt:lpstr>Queries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Real-Time Pedestrian Detection and Tracking System for Intelligent Vehicles</dc:title>
  <dc:creator>Sumeet Singh</dc:creator>
  <cp:lastModifiedBy>Sumeet Singh</cp:lastModifiedBy>
  <cp:revision>1</cp:revision>
  <dcterms:created xsi:type="dcterms:W3CDTF">2020-05-28T01:28:58Z</dcterms:created>
  <dcterms:modified xsi:type="dcterms:W3CDTF">2020-05-28T01:42:27Z</dcterms:modified>
</cp:coreProperties>
</file>