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7" r:id="rId6"/>
    <p:sldId id="269" r:id="rId7"/>
    <p:sldId id="263" r:id="rId8"/>
    <p:sldId id="264" r:id="rId9"/>
    <p:sldId id="270" r:id="rId10"/>
    <p:sldId id="271" r:id="rId11"/>
    <p:sldId id="272" r:id="rId12"/>
    <p:sldId id="273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A7F357-0ED5-CFD4-C221-BDFC5F6518DF}" v="64" dt="2020-08-26T19:52:21.200"/>
    <p1510:client id="{F3F5CD94-3020-4490-97AB-303321B39B87}" v="75" dt="2020-08-26T22:40:31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3FDFC-7A35-4916-8438-5E26EFE63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1A5B31-5BAF-49E9-8E01-F0373F5B6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EE43-6D6E-4F8C-8E84-189FC157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45556-8A33-4102-948C-6AF8A8B8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74E0A-62EF-4235-A37D-1CA7566BC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95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4639-3F61-4CB2-9061-B55A34C4F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342E1-D448-4478-B4EA-EE38AB739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39F45-AB4B-46B9-BAFB-99AEEAB4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97173-391A-41AC-A383-5C30EA21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3433C-3FCD-4207-B259-E27E3D82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996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F1C9-25AE-46D1-B308-531EA8D65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B4551-A13C-4E95-8051-353A848C8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482C3-24D7-46FA-A115-7CAD8860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EC1B6-BC1B-4A97-B168-7D3316CE2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3032-0A46-4FE6-B185-1740B8D2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618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53FC3-C312-43F2-91FD-32613A5E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1A4EF-A851-47B4-A84B-3C7E7A6F4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D7C09-F12F-4870-B951-CF71AC7C4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8D8CD-508E-4724-A927-F93E1F85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F8247-3351-469B-8589-CE2E9A72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D386B-9D5D-4093-9501-D9C615F9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8837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D6F5-ABC4-4CF5-8E4B-58A283E8E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8847F-1B8D-4D46-8F89-9169FDEEF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B8464-013B-4076-86DB-81B882159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E1A882-A721-422D-8705-B103A88AA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D1E77-D77E-4FCB-9215-8E8E44130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70EAD-A8C5-4576-9C65-87B0316A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B9456-5C13-4979-B8F4-29D3DDE49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17757-6425-45CF-8F8F-B4671F659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2223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A923B-BF1A-4818-BAE1-87A9DE71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F70B22-1F20-48AD-962C-49974A9CE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27637-2444-43F3-B851-299080FB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81E6B-D1F0-4E7F-A058-3FA5EFBF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0005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981B4-B7DB-4CBF-9C22-3E697D00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602A8-E0AB-44BD-9FFF-DA1F1BE6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50CAC-9630-40E2-9391-83B31DC8B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5429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8808-2531-4683-BF90-BE561B94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CA466-731E-49F2-ADF3-DD1270975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156C5-02AE-4194-939B-E124AF349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B6C07-4C7A-4EFD-89DD-2E1C46F0C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EE8BC-BBF3-42F2-A626-189D174A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16390-2297-4083-9CAE-389D06A4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146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37DF-7B81-44BB-8FBB-1092563A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0BDF4-627C-468E-A5A1-9212D4FBC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98CB0-32AD-47C1-8E80-6816C57A9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79D29-5A2A-431B-BCB2-5378082E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244A8-827C-4686-AFB7-47132CA4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F3728-09E5-4066-90F5-373690AA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5621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0314-9172-42E8-8FC8-E7B82999E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B2160-F361-4B95-89DD-DFBB2F22E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EDF81-2A2E-4D32-A09C-EB2E131B8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8238E-8EF7-4504-9BE6-E1F2CD4D9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AFDF7-F820-4CA3-A165-7FEE53FA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276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D0AE14-58E7-436C-A4BC-4F3ADC6AE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70F5D-A9A7-4267-8C2E-494C73DB0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062C4-1312-4F81-9EED-F7B5722D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6E066-5E7C-48A1-AF58-D967F7D6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F16C1-3681-4043-8092-EEEF9116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51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2C04E-CD55-4E38-AD99-708D5D1C7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122E2-8AA5-454A-BDBA-A27C8F062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2845A-468F-4370-AB59-22511D24A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B60D8-76DB-4D71-A56C-4FA0ECE72819}" type="datetimeFigureOut">
              <a:rPr lang="en-CA" smtClean="0"/>
              <a:t>2020-08-26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97310-37DA-4E3C-A385-D05B0808B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AC759-CC9B-4683-B0CD-0B3398D23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46AF5-6988-405C-AA76-13F5E4CDEDD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2127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8E9A7-6F38-462B-AB5A-84608F1EE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3547822"/>
            <a:ext cx="3312734" cy="1141851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2000" dirty="0">
                <a:solidFill>
                  <a:srgbClr val="080808"/>
                </a:solidFill>
                <a:ea typeface="+mn-lt"/>
                <a:cs typeface="+mn-lt"/>
              </a:rPr>
              <a:t>Final Presentation</a:t>
            </a:r>
            <a:endParaRPr lang="en-US" sz="2000" dirty="0">
              <a:solidFill>
                <a:srgbClr val="080808"/>
              </a:solidFill>
            </a:endParaRPr>
          </a:p>
          <a:p>
            <a:r>
              <a:rPr lang="en-CA" sz="2000" dirty="0">
                <a:solidFill>
                  <a:srgbClr val="080808"/>
                </a:solidFill>
                <a:ea typeface="+mn-lt"/>
                <a:cs typeface="+mn-lt"/>
              </a:rPr>
              <a:t>(Integration)</a:t>
            </a:r>
            <a:endParaRPr lang="en-US" sz="2000" dirty="0">
              <a:solidFill>
                <a:srgbClr val="080808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3871D-7256-492A-91C0-A1F3A9FD4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1391259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CA" sz="3600" dirty="0">
                <a:solidFill>
                  <a:srgbClr val="080808"/>
                </a:solidFill>
                <a:ea typeface="+mj-lt"/>
                <a:cs typeface="+mj-lt"/>
              </a:rPr>
              <a:t>Real-Time Pedestrian Detection System for Intelligent Vehicles</a:t>
            </a:r>
            <a:endParaRPr lang="en-US" sz="3600" dirty="0">
              <a:solidFill>
                <a:srgbClr val="080808"/>
              </a:solidFill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E1BBE-C1DA-4B06-8DD6-95CE6F014A49}"/>
              </a:ext>
            </a:extLst>
          </p:cNvPr>
          <p:cNvSpPr txBox="1"/>
          <p:nvPr/>
        </p:nvSpPr>
        <p:spPr>
          <a:xfrm>
            <a:off x="5187636" y="4506432"/>
            <a:ext cx="2337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          Team SEER -</a:t>
            </a:r>
          </a:p>
          <a:p>
            <a:endParaRPr lang="en-IN" sz="1200" dirty="0"/>
          </a:p>
          <a:p>
            <a:pPr algn="just"/>
            <a:r>
              <a:rPr lang="en-IN" sz="1200" dirty="0"/>
              <a:t>Sumeet Singh (251055497)</a:t>
            </a:r>
          </a:p>
          <a:p>
            <a:pPr algn="just"/>
            <a:r>
              <a:rPr lang="en-IN" sz="1200" dirty="0"/>
              <a:t>Deep Singh (251122489)</a:t>
            </a:r>
          </a:p>
          <a:p>
            <a:pPr algn="just"/>
            <a:r>
              <a:rPr lang="en-IN" sz="1200" dirty="0"/>
              <a:t>Sanket Salunke (251102392)</a:t>
            </a:r>
          </a:p>
          <a:p>
            <a:pPr algn="just"/>
            <a:r>
              <a:rPr lang="en-IN" sz="1200" dirty="0"/>
              <a:t>Nikhil Komari (251086006)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258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F1AE-AF5C-4B04-9958-49C546421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07B7B-5202-4251-9F9C-A7AC8124F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pPr algn="just"/>
            <a:r>
              <a:rPr lang="en-US" sz="2400" dirty="0"/>
              <a:t>It is estimated that around 1.25 million deaths occur worldwide every year due to road accidents. </a:t>
            </a:r>
          </a:p>
          <a:p>
            <a:pPr algn="just"/>
            <a:r>
              <a:rPr lang="en-US" sz="2400" dirty="0"/>
              <a:t>Majority of the victims include pedestrians and cyclists.</a:t>
            </a:r>
          </a:p>
          <a:p>
            <a:pPr algn="just"/>
            <a:r>
              <a:rPr lang="en-US" sz="2400" dirty="0"/>
              <a:t>With the advent of autonomous vehicles, road accidents can be reduced to a great extent. However, a robust intelligent infrastructure is needed to realize this.</a:t>
            </a:r>
          </a:p>
          <a:p>
            <a:pPr algn="just"/>
            <a:r>
              <a:rPr lang="en-US" sz="2400" dirty="0"/>
              <a:t>Our project focuses on building a real-time pedestrian detection system to avoid collision between vehicles and pedestrians.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70529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C429-9515-47E8-A1D6-8F3C8EAF0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70EA9FAC-1A07-409D-9ED7-9FF8B5097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pPr algn="just"/>
            <a:r>
              <a:rPr lang="en-IN" sz="2400" dirty="0"/>
              <a:t>Detect Pedestrians on cross walk (Region of Interest) accurately.</a:t>
            </a:r>
          </a:p>
          <a:p>
            <a:pPr algn="just"/>
            <a:r>
              <a:rPr lang="en-IN" sz="2400" dirty="0"/>
              <a:t>Determine the number of pedestrians on cross walk.</a:t>
            </a:r>
          </a:p>
          <a:p>
            <a:pPr algn="just"/>
            <a:r>
              <a:rPr lang="en-IN" sz="2400" dirty="0"/>
              <a:t>Communicate detections to nearby intelligent vehicles to avoid collision.</a:t>
            </a:r>
          </a:p>
          <a:p>
            <a:pPr algn="just"/>
            <a:r>
              <a:rPr lang="en-IN" sz="2400" dirty="0"/>
              <a:t>Provide admin functionalities such as network and video feed monitoring.</a:t>
            </a:r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4532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0">
            <a:extLst>
              <a:ext uri="{FF2B5EF4-FFF2-40B4-BE49-F238E27FC236}">
                <a16:creationId xmlns:a16="http://schemas.microsoft.com/office/drawing/2014/main" id="{A5711A0E-A428-4ED1-96CB-33D69FD84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874" y="2043803"/>
            <a:ext cx="10190252" cy="80683"/>
          </a:xfrm>
          <a:prstGeom prst="rect">
            <a:avLst/>
          </a:prstGeom>
          <a:solidFill>
            <a:schemeClr val="tx1">
              <a:lumMod val="50000"/>
              <a:lumOff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CC5A53E-AF1D-40DD-BF70-424FD798ED3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31913" y="2427288"/>
            <a:ext cx="5294313" cy="3535363"/>
          </a:xfr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29AD13E-38A6-459E-A629-704FE6582B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10363" y="2427288"/>
            <a:ext cx="4149725" cy="353536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7793F-8447-4099-9733-4BA79D1E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204" y="606564"/>
            <a:ext cx="1045159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Subsystem Decomposition</a:t>
            </a:r>
          </a:p>
        </p:txBody>
      </p:sp>
    </p:spTree>
    <p:extLst>
      <p:ext uri="{BB962C8B-B14F-4D97-AF65-F5344CB8AC3E}">
        <p14:creationId xmlns:p14="http://schemas.microsoft.com/office/powerpoint/2010/main" val="373571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9">
            <a:extLst>
              <a:ext uri="{FF2B5EF4-FFF2-40B4-BE49-F238E27FC236}">
                <a16:creationId xmlns:a16="http://schemas.microsoft.com/office/drawing/2014/main" id="{0FE2D22C-409B-48AF-B24F-7988A8F7F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11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E0E94-4F88-4F86-8F2C-E1EA1E12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783" y="349664"/>
            <a:ext cx="5845571" cy="16383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/>
              <a:t>Site Map</a:t>
            </a:r>
            <a:endParaRPr lang="en-US" sz="4800" dirty="0"/>
          </a:p>
        </p:txBody>
      </p:sp>
      <p:sp>
        <p:nvSpPr>
          <p:cNvPr id="62" name="Rectangle 13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644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15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998176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17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5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07FE5C4-B523-4040-A531-F10C9F3208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2" b="2680"/>
          <a:stretch/>
        </p:blipFill>
        <p:spPr>
          <a:xfrm>
            <a:off x="535110" y="627954"/>
            <a:ext cx="4235516" cy="53533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A4219-D471-4EE5-AA31-FD8E242E7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6262" y="2620641"/>
            <a:ext cx="5837750" cy="30237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There are four main components in UI module:</a:t>
            </a:r>
          </a:p>
          <a:p>
            <a:r>
              <a:rPr lang="en-US" sz="2000" dirty="0"/>
              <a:t>Landing</a:t>
            </a:r>
          </a:p>
          <a:p>
            <a:r>
              <a:rPr lang="en-US" sz="2000" dirty="0"/>
              <a:t>Registration</a:t>
            </a:r>
          </a:p>
          <a:p>
            <a:r>
              <a:rPr lang="en-US" sz="2000" dirty="0"/>
              <a:t>Login</a:t>
            </a:r>
          </a:p>
          <a:p>
            <a:r>
              <a:rPr lang="en-US" sz="2000" dirty="0"/>
              <a:t>Admin functions</a:t>
            </a:r>
          </a:p>
          <a:p>
            <a:r>
              <a:rPr lang="en-US" sz="2000" dirty="0"/>
              <a:t>User Response</a:t>
            </a:r>
          </a:p>
          <a:p>
            <a:pPr mar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5325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DD89E-246A-4100-9ECA-905279EA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34060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Registration Page</a:t>
            </a:r>
          </a:p>
        </p:txBody>
      </p:sp>
      <p:sp>
        <p:nvSpPr>
          <p:cNvPr id="50" name="Freeform: Shape 52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80AB9C-80D5-42B0-9053-CBBE61E2F453}"/>
              </a:ext>
            </a:extLst>
          </p:cNvPr>
          <p:cNvSpPr txBox="1"/>
          <p:nvPr/>
        </p:nvSpPr>
        <p:spPr>
          <a:xfrm>
            <a:off x="838200" y="2173288"/>
            <a:ext cx="3603171" cy="3639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 user can subscribe to the services by signing up on the registration page.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Details required to sign up are email, username and password.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After signing up a user is required to login to access the services.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5991B3-C9E9-4C83-9098-C0FCE760A8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605"/>
          <a:stretch/>
        </p:blipFill>
        <p:spPr>
          <a:xfrm>
            <a:off x="6183088" y="2680592"/>
            <a:ext cx="5170711" cy="2989065"/>
          </a:xfrm>
          <a:custGeom>
            <a:avLst/>
            <a:gdLst/>
            <a:ahLst/>
            <a:cxnLst/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688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630A8-E868-4859-AB74-A3EBBFBE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34060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Login Page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E9E0B5-C1B1-4D57-A8BA-26E20265C53B}"/>
              </a:ext>
            </a:extLst>
          </p:cNvPr>
          <p:cNvSpPr txBox="1"/>
          <p:nvPr/>
        </p:nvSpPr>
        <p:spPr>
          <a:xfrm>
            <a:off x="838200" y="2173288"/>
            <a:ext cx="3603171" cy="3639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Any registered user can access the services by signing in (involves authentication).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Details required to sign in are username and password.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After signing in a user can make decisions based on the response received from nearby RSU (involves pedestrian detection).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5EDD0B23-7459-4A0E-A355-624CEF0418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7" r="-2" b="-2"/>
          <a:stretch/>
        </p:blipFill>
        <p:spPr>
          <a:xfrm>
            <a:off x="6183088" y="2680593"/>
            <a:ext cx="5170711" cy="2989063"/>
          </a:xfrm>
          <a:custGeom>
            <a:avLst/>
            <a:gdLst/>
            <a:ahLst/>
            <a:cxnLst/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20309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2DD7-2DEA-4694-8CC0-785264354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34060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Response (Detections)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12AC17-DBD4-43DE-960F-5DC05411A61D}"/>
              </a:ext>
            </a:extLst>
          </p:cNvPr>
          <p:cNvSpPr txBox="1"/>
          <p:nvPr/>
        </p:nvSpPr>
        <p:spPr>
          <a:xfrm>
            <a:off x="838200" y="2173288"/>
            <a:ext cx="3603171" cy="36396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 display of detected pedestrians on crosswalk, region of interest and pedestrian count is provided to the user.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Pedestrian count highlighted in red, ROI in yellow, and detections along with class and confidence score in green.</a:t>
            </a:r>
          </a:p>
          <a:p>
            <a:pPr marL="285750"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Therefore, the user’s (vehicle) on-board unit makes a decision based on the information (detections and count) received from the nearest RSU.</a:t>
            </a:r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54E1E3F9-65E7-4B2B-BC0F-D4AE7FFF1B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87"/>
          <a:stretch/>
        </p:blipFill>
        <p:spPr>
          <a:xfrm>
            <a:off x="6183088" y="2680587"/>
            <a:ext cx="5170711" cy="2989074"/>
          </a:xfrm>
          <a:custGeom>
            <a:avLst/>
            <a:gdLst/>
            <a:ahLst/>
            <a:cxnLst/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43397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CC127-7896-43CD-8256-74C528B7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IN" dirty="0"/>
              <a:t>Summary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DCD0-7C0E-4821-8E07-113A5B34C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r>
              <a:rPr lang="en-IN" sz="2400" dirty="0"/>
              <a:t>End-to-end integration involving object detection module, user registration, user authentication and front-end User Interface (UI) is completed, therefore, enabling user to access the information regarding pedestrian detection and count.</a:t>
            </a:r>
          </a:p>
          <a:p>
            <a:r>
              <a:rPr lang="en-IN" sz="2400" dirty="0"/>
              <a:t>Admin functionalities including login, network and video monitoring, node manageability etc., are demonstrated and discussed in previous presentations, which are available on bitbucket.</a:t>
            </a:r>
          </a:p>
          <a:p>
            <a:r>
              <a:rPr lang="en-IN" sz="2400" dirty="0"/>
              <a:t>We successfully deployed the object detection model and served its results to a user to enable decision making through a web application.</a:t>
            </a:r>
          </a:p>
        </p:txBody>
      </p:sp>
    </p:spTree>
    <p:extLst>
      <p:ext uri="{BB962C8B-B14F-4D97-AF65-F5344CB8AC3E}">
        <p14:creationId xmlns:p14="http://schemas.microsoft.com/office/powerpoint/2010/main" val="916471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49892B-8E34-44DC-91F6-8A52302D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14" y="1783959"/>
            <a:ext cx="4087306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Thank You!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close up of an object&#10;&#10;Description automatically generated">
            <a:extLst>
              <a:ext uri="{FF2B5EF4-FFF2-40B4-BE49-F238E27FC236}">
                <a16:creationId xmlns:a16="http://schemas.microsoft.com/office/drawing/2014/main" id="{36661D90-8B33-42EF-AC28-7815D94140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35" r="2655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39975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58F261202C947A85ABE95A5312016" ma:contentTypeVersion="11" ma:contentTypeDescription="Create a new document." ma:contentTypeScope="" ma:versionID="a639042913b5adb9300e639359024ccb">
  <xsd:schema xmlns:xsd="http://www.w3.org/2001/XMLSchema" xmlns:xs="http://www.w3.org/2001/XMLSchema" xmlns:p="http://schemas.microsoft.com/office/2006/metadata/properties" xmlns:ns3="97a5cae0-082b-4ce2-b6dd-f4e659e6d106" xmlns:ns4="6b4ee8b9-1789-4a1a-b12b-cda6c73a5446" targetNamespace="http://schemas.microsoft.com/office/2006/metadata/properties" ma:root="true" ma:fieldsID="7820bcbcf978926d627eefca929354d7" ns3:_="" ns4:_="">
    <xsd:import namespace="97a5cae0-082b-4ce2-b6dd-f4e659e6d106"/>
    <xsd:import namespace="6b4ee8b9-1789-4a1a-b12b-cda6c73a544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a5cae0-082b-4ce2-b6dd-f4e659e6d10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ee8b9-1789-4a1a-b12b-cda6c73a54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288F0F-8C27-40EF-A7DB-1421BADA07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1B37C8-4111-4E4C-B3F5-CA22252970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a5cae0-082b-4ce2-b6dd-f4e659e6d106"/>
    <ds:schemaRef ds:uri="6b4ee8b9-1789-4a1a-b12b-cda6c73a54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172091-4723-4680-88BE-D678CC534D3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427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Real-Time Pedestrian Detection System for Intelligent Vehicles</vt:lpstr>
      <vt:lpstr>Introduction</vt:lpstr>
      <vt:lpstr>Objectives</vt:lpstr>
      <vt:lpstr>Subsystem Decomposition</vt:lpstr>
      <vt:lpstr>Site Map</vt:lpstr>
      <vt:lpstr>Registration Page</vt:lpstr>
      <vt:lpstr>Login Page</vt:lpstr>
      <vt:lpstr>User Response (Detections)</vt:lpstr>
      <vt:lpstr>Summary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Pedestrian Detection System for Intelligent Vehicles</dc:title>
  <dc:creator>Nikhil Komari</dc:creator>
  <cp:lastModifiedBy>Nikhil Komari</cp:lastModifiedBy>
  <cp:revision>2</cp:revision>
  <dcterms:created xsi:type="dcterms:W3CDTF">2020-08-26T22:37:02Z</dcterms:created>
  <dcterms:modified xsi:type="dcterms:W3CDTF">2020-08-26T22:44:57Z</dcterms:modified>
</cp:coreProperties>
</file>